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5" r:id="rId3"/>
    <p:sldId id="266" r:id="rId4"/>
    <p:sldId id="267" r:id="rId5"/>
    <p:sldId id="268" r:id="rId6"/>
    <p:sldId id="269" r:id="rId7"/>
    <p:sldId id="270" r:id="rId8"/>
    <p:sldId id="282" r:id="rId9"/>
    <p:sldId id="271" r:id="rId10"/>
    <p:sldId id="272" r:id="rId11"/>
    <p:sldId id="273" r:id="rId12"/>
    <p:sldId id="274" r:id="rId13"/>
    <p:sldId id="275" r:id="rId14"/>
    <p:sldId id="284" r:id="rId15"/>
    <p:sldId id="285" r:id="rId16"/>
    <p:sldId id="286" r:id="rId17"/>
    <p:sldId id="276" r:id="rId18"/>
    <p:sldId id="277" r:id="rId19"/>
    <p:sldId id="278" r:id="rId20"/>
    <p:sldId id="279" r:id="rId21"/>
    <p:sldId id="280"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19B74A-4A1E-4C21-BBDF-2F6B74BD8AE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5227DCDD-C57A-46B7-AC06-4130482832FC}">
      <dgm:prSet/>
      <dgm:spPr/>
      <dgm:t>
        <a:bodyPr/>
        <a:lstStyle/>
        <a:p>
          <a:r>
            <a:rPr lang="en-US" b="1" dirty="0"/>
            <a:t>Tandrima Nandy (241001271061)</a:t>
          </a:r>
          <a:endParaRPr lang="en-IN" dirty="0"/>
        </a:p>
      </dgm:t>
    </dgm:pt>
    <dgm:pt modelId="{14CE75E9-5AB8-40D1-A20B-9946AED59BB6}" type="parTrans" cxnId="{D511DCDD-C89F-464C-9FFA-2671B54EA008}">
      <dgm:prSet/>
      <dgm:spPr/>
      <dgm:t>
        <a:bodyPr/>
        <a:lstStyle/>
        <a:p>
          <a:endParaRPr lang="en-IN"/>
        </a:p>
      </dgm:t>
    </dgm:pt>
    <dgm:pt modelId="{D2CB4004-94D1-4017-8F48-D794197E2025}" type="sibTrans" cxnId="{D511DCDD-C89F-464C-9FFA-2671B54EA008}">
      <dgm:prSet/>
      <dgm:spPr/>
      <dgm:t>
        <a:bodyPr/>
        <a:lstStyle/>
        <a:p>
          <a:endParaRPr lang="en-IN"/>
        </a:p>
      </dgm:t>
    </dgm:pt>
    <dgm:pt modelId="{942DC5E1-6A5B-4CBB-A7B4-BAD5E7D7B668}">
      <dgm:prSet/>
      <dgm:spPr/>
      <dgm:t>
        <a:bodyPr/>
        <a:lstStyle/>
        <a:p>
          <a:r>
            <a:rPr lang="en-US" b="1"/>
            <a:t>Saptarchi Datta (211001091001)</a:t>
          </a:r>
          <a:endParaRPr lang="en-IN"/>
        </a:p>
      </dgm:t>
    </dgm:pt>
    <dgm:pt modelId="{1619542C-1E0A-4E9D-B26C-78436FD0B9EC}" type="parTrans" cxnId="{A888F0EE-2186-47C0-A64D-5FC703DF5641}">
      <dgm:prSet/>
      <dgm:spPr/>
      <dgm:t>
        <a:bodyPr/>
        <a:lstStyle/>
        <a:p>
          <a:endParaRPr lang="en-IN"/>
        </a:p>
      </dgm:t>
    </dgm:pt>
    <dgm:pt modelId="{F0800C5C-61C9-4E1E-ADEB-CCAC876A48BC}" type="sibTrans" cxnId="{A888F0EE-2186-47C0-A64D-5FC703DF5641}">
      <dgm:prSet/>
      <dgm:spPr/>
      <dgm:t>
        <a:bodyPr/>
        <a:lstStyle/>
        <a:p>
          <a:endParaRPr lang="en-IN"/>
        </a:p>
      </dgm:t>
    </dgm:pt>
    <dgm:pt modelId="{66F6EBC5-0166-446C-82E5-A60533B097FB}">
      <dgm:prSet/>
      <dgm:spPr/>
      <dgm:t>
        <a:bodyPr/>
        <a:lstStyle/>
        <a:p>
          <a:r>
            <a:rPr lang="en-US" b="1"/>
            <a:t>Subhadip Maity (241001271128)</a:t>
          </a:r>
          <a:endParaRPr lang="en-IN"/>
        </a:p>
      </dgm:t>
    </dgm:pt>
    <dgm:pt modelId="{617A6C83-7EE3-45F8-BC38-54B1C7DDBEA1}" type="parTrans" cxnId="{B9B4A5D7-FE0F-4594-831B-481C7E4B14B8}">
      <dgm:prSet/>
      <dgm:spPr/>
      <dgm:t>
        <a:bodyPr/>
        <a:lstStyle/>
        <a:p>
          <a:endParaRPr lang="en-IN"/>
        </a:p>
      </dgm:t>
    </dgm:pt>
    <dgm:pt modelId="{DE4BD3BF-DDA6-4B27-9338-D3225D30467D}" type="sibTrans" cxnId="{B9B4A5D7-FE0F-4594-831B-481C7E4B14B8}">
      <dgm:prSet/>
      <dgm:spPr/>
      <dgm:t>
        <a:bodyPr/>
        <a:lstStyle/>
        <a:p>
          <a:endParaRPr lang="en-IN"/>
        </a:p>
      </dgm:t>
    </dgm:pt>
    <dgm:pt modelId="{B7805B09-6165-4E0F-B5E6-2F66EC5D524E}">
      <dgm:prSet/>
      <dgm:spPr/>
      <dgm:t>
        <a:bodyPr/>
        <a:lstStyle/>
        <a:p>
          <a:r>
            <a:rPr lang="en-US" b="1"/>
            <a:t>Arya Kumar Pal (241001271119)</a:t>
          </a:r>
          <a:endParaRPr lang="en-IN"/>
        </a:p>
      </dgm:t>
    </dgm:pt>
    <dgm:pt modelId="{7793ACEB-2E58-40F5-B802-82F1C50E60E2}" type="parTrans" cxnId="{B1BCB255-D748-4083-8102-0EF5494512B1}">
      <dgm:prSet/>
      <dgm:spPr/>
      <dgm:t>
        <a:bodyPr/>
        <a:lstStyle/>
        <a:p>
          <a:endParaRPr lang="en-IN"/>
        </a:p>
      </dgm:t>
    </dgm:pt>
    <dgm:pt modelId="{DAE7D9CA-1D67-445F-AA6A-3125CF7FD1CF}" type="sibTrans" cxnId="{B1BCB255-D748-4083-8102-0EF5494512B1}">
      <dgm:prSet/>
      <dgm:spPr/>
      <dgm:t>
        <a:bodyPr/>
        <a:lstStyle/>
        <a:p>
          <a:endParaRPr lang="en-IN"/>
        </a:p>
      </dgm:t>
    </dgm:pt>
    <dgm:pt modelId="{17DCDB2C-E086-4489-8A2C-5D705E7FD0EB}">
      <dgm:prSet/>
      <dgm:spPr/>
      <dgm:t>
        <a:bodyPr/>
        <a:lstStyle/>
        <a:p>
          <a:r>
            <a:rPr lang="en-US" b="1"/>
            <a:t>Shawan Sur (241001271077)</a:t>
          </a:r>
          <a:endParaRPr lang="en-IN"/>
        </a:p>
      </dgm:t>
    </dgm:pt>
    <dgm:pt modelId="{B855E265-F097-40E1-B76A-5E7B9FA80999}" type="parTrans" cxnId="{AD478018-15A2-46BD-A2F3-3679D076B871}">
      <dgm:prSet/>
      <dgm:spPr/>
      <dgm:t>
        <a:bodyPr/>
        <a:lstStyle/>
        <a:p>
          <a:endParaRPr lang="en-IN"/>
        </a:p>
      </dgm:t>
    </dgm:pt>
    <dgm:pt modelId="{B1312224-AB9A-4845-89F0-34FC3E8911E0}" type="sibTrans" cxnId="{AD478018-15A2-46BD-A2F3-3679D076B871}">
      <dgm:prSet/>
      <dgm:spPr/>
      <dgm:t>
        <a:bodyPr/>
        <a:lstStyle/>
        <a:p>
          <a:endParaRPr lang="en-IN"/>
        </a:p>
      </dgm:t>
    </dgm:pt>
    <dgm:pt modelId="{D33017F7-E90B-4F61-AB43-1FBB915F6312}" type="pres">
      <dgm:prSet presAssocID="{9E19B74A-4A1E-4C21-BBDF-2F6B74BD8AEA}" presName="linear" presStyleCnt="0">
        <dgm:presLayoutVars>
          <dgm:animLvl val="lvl"/>
          <dgm:resizeHandles val="exact"/>
        </dgm:presLayoutVars>
      </dgm:prSet>
      <dgm:spPr/>
    </dgm:pt>
    <dgm:pt modelId="{6E96E4A6-006F-41AC-A5DC-7963FE381002}" type="pres">
      <dgm:prSet presAssocID="{5227DCDD-C57A-46B7-AC06-4130482832FC}" presName="parentText" presStyleLbl="node1" presStyleIdx="0" presStyleCnt="5" custLinFactNeighborX="707" custLinFactNeighborY="-19056">
        <dgm:presLayoutVars>
          <dgm:chMax val="0"/>
          <dgm:bulletEnabled val="1"/>
        </dgm:presLayoutVars>
      </dgm:prSet>
      <dgm:spPr/>
    </dgm:pt>
    <dgm:pt modelId="{E5CC6F6D-4ECC-4737-998E-65834758FD32}" type="pres">
      <dgm:prSet presAssocID="{D2CB4004-94D1-4017-8F48-D794197E2025}" presName="spacer" presStyleCnt="0"/>
      <dgm:spPr/>
    </dgm:pt>
    <dgm:pt modelId="{43C372F0-B478-4427-B76C-97F575FA9491}" type="pres">
      <dgm:prSet presAssocID="{942DC5E1-6A5B-4CBB-A7B4-BAD5E7D7B668}" presName="parentText" presStyleLbl="node1" presStyleIdx="1" presStyleCnt="5">
        <dgm:presLayoutVars>
          <dgm:chMax val="0"/>
          <dgm:bulletEnabled val="1"/>
        </dgm:presLayoutVars>
      </dgm:prSet>
      <dgm:spPr/>
    </dgm:pt>
    <dgm:pt modelId="{05925091-FDA4-4D9E-AB38-5442F7753538}" type="pres">
      <dgm:prSet presAssocID="{F0800C5C-61C9-4E1E-ADEB-CCAC876A48BC}" presName="spacer" presStyleCnt="0"/>
      <dgm:spPr/>
    </dgm:pt>
    <dgm:pt modelId="{6F6C3C21-0481-4803-8440-B833FD3F0059}" type="pres">
      <dgm:prSet presAssocID="{66F6EBC5-0166-446C-82E5-A60533B097FB}" presName="parentText" presStyleLbl="node1" presStyleIdx="2" presStyleCnt="5">
        <dgm:presLayoutVars>
          <dgm:chMax val="0"/>
          <dgm:bulletEnabled val="1"/>
        </dgm:presLayoutVars>
      </dgm:prSet>
      <dgm:spPr/>
    </dgm:pt>
    <dgm:pt modelId="{F001772B-AA6A-4CEB-807D-BC2C25E2C661}" type="pres">
      <dgm:prSet presAssocID="{DE4BD3BF-DDA6-4B27-9338-D3225D30467D}" presName="spacer" presStyleCnt="0"/>
      <dgm:spPr/>
    </dgm:pt>
    <dgm:pt modelId="{BCC2948D-8BE7-46B3-9821-A3B3CC03DDDC}" type="pres">
      <dgm:prSet presAssocID="{B7805B09-6165-4E0F-B5E6-2F66EC5D524E}" presName="parentText" presStyleLbl="node1" presStyleIdx="3" presStyleCnt="5">
        <dgm:presLayoutVars>
          <dgm:chMax val="0"/>
          <dgm:bulletEnabled val="1"/>
        </dgm:presLayoutVars>
      </dgm:prSet>
      <dgm:spPr/>
    </dgm:pt>
    <dgm:pt modelId="{8D8CC637-E9CF-4877-8F18-50D395C68049}" type="pres">
      <dgm:prSet presAssocID="{DAE7D9CA-1D67-445F-AA6A-3125CF7FD1CF}" presName="spacer" presStyleCnt="0"/>
      <dgm:spPr/>
    </dgm:pt>
    <dgm:pt modelId="{8E7F84BE-A1F5-418A-AABD-FF799365F5C2}" type="pres">
      <dgm:prSet presAssocID="{17DCDB2C-E086-4489-8A2C-5D705E7FD0EB}" presName="parentText" presStyleLbl="node1" presStyleIdx="4" presStyleCnt="5">
        <dgm:presLayoutVars>
          <dgm:chMax val="0"/>
          <dgm:bulletEnabled val="1"/>
        </dgm:presLayoutVars>
      </dgm:prSet>
      <dgm:spPr/>
    </dgm:pt>
  </dgm:ptLst>
  <dgm:cxnLst>
    <dgm:cxn modelId="{DA2E770D-383F-4F02-BCDC-D866A5D820D5}" type="presOf" srcId="{B7805B09-6165-4E0F-B5E6-2F66EC5D524E}" destId="{BCC2948D-8BE7-46B3-9821-A3B3CC03DDDC}" srcOrd="0" destOrd="0" presId="urn:microsoft.com/office/officeart/2005/8/layout/vList2"/>
    <dgm:cxn modelId="{AD478018-15A2-46BD-A2F3-3679D076B871}" srcId="{9E19B74A-4A1E-4C21-BBDF-2F6B74BD8AEA}" destId="{17DCDB2C-E086-4489-8A2C-5D705E7FD0EB}" srcOrd="4" destOrd="0" parTransId="{B855E265-F097-40E1-B76A-5E7B9FA80999}" sibTransId="{B1312224-AB9A-4845-89F0-34FC3E8911E0}"/>
    <dgm:cxn modelId="{908FDE4C-8E42-4D70-A8C6-6815064CAAFD}" type="presOf" srcId="{5227DCDD-C57A-46B7-AC06-4130482832FC}" destId="{6E96E4A6-006F-41AC-A5DC-7963FE381002}" srcOrd="0" destOrd="0" presId="urn:microsoft.com/office/officeart/2005/8/layout/vList2"/>
    <dgm:cxn modelId="{943CBA71-D81A-4A92-99C8-DBD6DC9CED87}" type="presOf" srcId="{942DC5E1-6A5B-4CBB-A7B4-BAD5E7D7B668}" destId="{43C372F0-B478-4427-B76C-97F575FA9491}" srcOrd="0" destOrd="0" presId="urn:microsoft.com/office/officeart/2005/8/layout/vList2"/>
    <dgm:cxn modelId="{B1BCB255-D748-4083-8102-0EF5494512B1}" srcId="{9E19B74A-4A1E-4C21-BBDF-2F6B74BD8AEA}" destId="{B7805B09-6165-4E0F-B5E6-2F66EC5D524E}" srcOrd="3" destOrd="0" parTransId="{7793ACEB-2E58-40F5-B802-82F1C50E60E2}" sibTransId="{DAE7D9CA-1D67-445F-AA6A-3125CF7FD1CF}"/>
    <dgm:cxn modelId="{BBAFA39A-5727-4EC7-9894-F41534F108AF}" type="presOf" srcId="{17DCDB2C-E086-4489-8A2C-5D705E7FD0EB}" destId="{8E7F84BE-A1F5-418A-AABD-FF799365F5C2}" srcOrd="0" destOrd="0" presId="urn:microsoft.com/office/officeart/2005/8/layout/vList2"/>
    <dgm:cxn modelId="{D5DB8AA4-DA96-4FC7-9648-3C15BB1FEBD9}" type="presOf" srcId="{9E19B74A-4A1E-4C21-BBDF-2F6B74BD8AEA}" destId="{D33017F7-E90B-4F61-AB43-1FBB915F6312}" srcOrd="0" destOrd="0" presId="urn:microsoft.com/office/officeart/2005/8/layout/vList2"/>
    <dgm:cxn modelId="{A72262B0-5CA7-43E8-809B-DE6F7C8E9B84}" type="presOf" srcId="{66F6EBC5-0166-446C-82E5-A60533B097FB}" destId="{6F6C3C21-0481-4803-8440-B833FD3F0059}" srcOrd="0" destOrd="0" presId="urn:microsoft.com/office/officeart/2005/8/layout/vList2"/>
    <dgm:cxn modelId="{B9B4A5D7-FE0F-4594-831B-481C7E4B14B8}" srcId="{9E19B74A-4A1E-4C21-BBDF-2F6B74BD8AEA}" destId="{66F6EBC5-0166-446C-82E5-A60533B097FB}" srcOrd="2" destOrd="0" parTransId="{617A6C83-7EE3-45F8-BC38-54B1C7DDBEA1}" sibTransId="{DE4BD3BF-DDA6-4B27-9338-D3225D30467D}"/>
    <dgm:cxn modelId="{D511DCDD-C89F-464C-9FFA-2671B54EA008}" srcId="{9E19B74A-4A1E-4C21-BBDF-2F6B74BD8AEA}" destId="{5227DCDD-C57A-46B7-AC06-4130482832FC}" srcOrd="0" destOrd="0" parTransId="{14CE75E9-5AB8-40D1-A20B-9946AED59BB6}" sibTransId="{D2CB4004-94D1-4017-8F48-D794197E2025}"/>
    <dgm:cxn modelId="{A888F0EE-2186-47C0-A64D-5FC703DF5641}" srcId="{9E19B74A-4A1E-4C21-BBDF-2F6B74BD8AEA}" destId="{942DC5E1-6A5B-4CBB-A7B4-BAD5E7D7B668}" srcOrd="1" destOrd="0" parTransId="{1619542C-1E0A-4E9D-B26C-78436FD0B9EC}" sibTransId="{F0800C5C-61C9-4E1E-ADEB-CCAC876A48BC}"/>
    <dgm:cxn modelId="{FFFA1511-786C-4DFB-9748-EA801661AA84}" type="presParOf" srcId="{D33017F7-E90B-4F61-AB43-1FBB915F6312}" destId="{6E96E4A6-006F-41AC-A5DC-7963FE381002}" srcOrd="0" destOrd="0" presId="urn:microsoft.com/office/officeart/2005/8/layout/vList2"/>
    <dgm:cxn modelId="{D5476D19-4DC1-4488-86A5-5E29AA32CCA0}" type="presParOf" srcId="{D33017F7-E90B-4F61-AB43-1FBB915F6312}" destId="{E5CC6F6D-4ECC-4737-998E-65834758FD32}" srcOrd="1" destOrd="0" presId="urn:microsoft.com/office/officeart/2005/8/layout/vList2"/>
    <dgm:cxn modelId="{D27F1197-19A7-4F85-A759-42BE13FC04A2}" type="presParOf" srcId="{D33017F7-E90B-4F61-AB43-1FBB915F6312}" destId="{43C372F0-B478-4427-B76C-97F575FA9491}" srcOrd="2" destOrd="0" presId="urn:microsoft.com/office/officeart/2005/8/layout/vList2"/>
    <dgm:cxn modelId="{7F8A404B-61B6-4613-8864-81E115E34432}" type="presParOf" srcId="{D33017F7-E90B-4F61-AB43-1FBB915F6312}" destId="{05925091-FDA4-4D9E-AB38-5442F7753538}" srcOrd="3" destOrd="0" presId="urn:microsoft.com/office/officeart/2005/8/layout/vList2"/>
    <dgm:cxn modelId="{EF88D695-3FCC-4C5B-9662-C49FACA4D3C4}" type="presParOf" srcId="{D33017F7-E90B-4F61-AB43-1FBB915F6312}" destId="{6F6C3C21-0481-4803-8440-B833FD3F0059}" srcOrd="4" destOrd="0" presId="urn:microsoft.com/office/officeart/2005/8/layout/vList2"/>
    <dgm:cxn modelId="{57B059C7-166C-435A-98D2-4DC4E60A1415}" type="presParOf" srcId="{D33017F7-E90B-4F61-AB43-1FBB915F6312}" destId="{F001772B-AA6A-4CEB-807D-BC2C25E2C661}" srcOrd="5" destOrd="0" presId="urn:microsoft.com/office/officeart/2005/8/layout/vList2"/>
    <dgm:cxn modelId="{D3A57FD4-192A-40E4-A4E1-035094BCAAD4}" type="presParOf" srcId="{D33017F7-E90B-4F61-AB43-1FBB915F6312}" destId="{BCC2948D-8BE7-46B3-9821-A3B3CC03DDDC}" srcOrd="6" destOrd="0" presId="urn:microsoft.com/office/officeart/2005/8/layout/vList2"/>
    <dgm:cxn modelId="{0BBBB599-0D39-4D25-8AB8-919F30F057A7}" type="presParOf" srcId="{D33017F7-E90B-4F61-AB43-1FBB915F6312}" destId="{8D8CC637-E9CF-4877-8F18-50D395C68049}" srcOrd="7" destOrd="0" presId="urn:microsoft.com/office/officeart/2005/8/layout/vList2"/>
    <dgm:cxn modelId="{CF076011-AA93-4212-896A-BF56E9275C3B}" type="presParOf" srcId="{D33017F7-E90B-4F61-AB43-1FBB915F6312}" destId="{8E7F84BE-A1F5-418A-AABD-FF799365F5C2}"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A44B34-09A7-475D-822F-5ED69EFB293E}" type="doc">
      <dgm:prSet loTypeId="urn:microsoft.com/office/officeart/2005/8/layout/chevron2" loCatId="process" qsTypeId="urn:microsoft.com/office/officeart/2005/8/quickstyle/3d3" qsCatId="3D" csTypeId="urn:microsoft.com/office/officeart/2005/8/colors/accent1_2" csCatId="accent1"/>
      <dgm:spPr/>
      <dgm:t>
        <a:bodyPr/>
        <a:lstStyle/>
        <a:p>
          <a:endParaRPr lang="en-IN"/>
        </a:p>
      </dgm:t>
    </dgm:pt>
    <dgm:pt modelId="{F4122827-D6BE-4289-9121-2BAFF11401FD}">
      <dgm:prSet/>
      <dgm:spPr/>
      <dgm:t>
        <a:bodyPr/>
        <a:lstStyle/>
        <a:p>
          <a:r>
            <a:rPr lang="en-IN"/>
            <a:t>The data flow begins when the user uploads a dataset through the system interface. The system first validates the file format to ensure compatibility. Once validated, preprocessing operations are applied to improve data quality. The cleaned dataset is then passed through statistical and AI-based analysis modules. Finally, the system generates visual outputs and analytical insights, which are displayed on the dashboard for user interpretation.</a:t>
          </a:r>
        </a:p>
      </dgm:t>
    </dgm:pt>
    <dgm:pt modelId="{ECF0F10C-FF59-44F1-812D-6F176B9434F4}" type="parTrans" cxnId="{280FB1A8-5787-4C0F-9D5D-6A3AC85DE0F9}">
      <dgm:prSet/>
      <dgm:spPr/>
      <dgm:t>
        <a:bodyPr/>
        <a:lstStyle/>
        <a:p>
          <a:endParaRPr lang="en-IN"/>
        </a:p>
      </dgm:t>
    </dgm:pt>
    <dgm:pt modelId="{081E9DE8-44A5-47FB-A4FB-DAAAB7A0F4C4}" type="sibTrans" cxnId="{280FB1A8-5787-4C0F-9D5D-6A3AC85DE0F9}">
      <dgm:prSet/>
      <dgm:spPr/>
      <dgm:t>
        <a:bodyPr/>
        <a:lstStyle/>
        <a:p>
          <a:endParaRPr lang="en-IN"/>
        </a:p>
      </dgm:t>
    </dgm:pt>
    <dgm:pt modelId="{ECB3A809-FE89-41C2-8CDB-E9358D1A8A28}" type="pres">
      <dgm:prSet presAssocID="{C1A44B34-09A7-475D-822F-5ED69EFB293E}" presName="linearFlow" presStyleCnt="0">
        <dgm:presLayoutVars>
          <dgm:dir/>
          <dgm:animLvl val="lvl"/>
          <dgm:resizeHandles val="exact"/>
        </dgm:presLayoutVars>
      </dgm:prSet>
      <dgm:spPr/>
    </dgm:pt>
    <dgm:pt modelId="{5C0FD403-8F86-4990-95B0-57821F797667}" type="pres">
      <dgm:prSet presAssocID="{F4122827-D6BE-4289-9121-2BAFF11401FD}" presName="composite" presStyleCnt="0"/>
      <dgm:spPr/>
    </dgm:pt>
    <dgm:pt modelId="{266A2D41-6EE4-48A3-B14D-5072508A9C6E}" type="pres">
      <dgm:prSet presAssocID="{F4122827-D6BE-4289-9121-2BAFF11401FD}" presName="parentText" presStyleLbl="alignNode1" presStyleIdx="0" presStyleCnt="1">
        <dgm:presLayoutVars>
          <dgm:chMax val="1"/>
          <dgm:bulletEnabled val="1"/>
        </dgm:presLayoutVars>
      </dgm:prSet>
      <dgm:spPr/>
    </dgm:pt>
    <dgm:pt modelId="{7FA1F5B7-9423-4AC9-9487-6D55B8A92896}" type="pres">
      <dgm:prSet presAssocID="{F4122827-D6BE-4289-9121-2BAFF11401FD}" presName="descendantText" presStyleLbl="alignAcc1" presStyleIdx="0" presStyleCnt="1" custLinFactNeighborY="414">
        <dgm:presLayoutVars>
          <dgm:bulletEnabled val="1"/>
        </dgm:presLayoutVars>
      </dgm:prSet>
      <dgm:spPr/>
    </dgm:pt>
  </dgm:ptLst>
  <dgm:cxnLst>
    <dgm:cxn modelId="{2F3C3B6E-04FB-421E-B718-6BF2B8216FFE}" type="presOf" srcId="{F4122827-D6BE-4289-9121-2BAFF11401FD}" destId="{266A2D41-6EE4-48A3-B14D-5072508A9C6E}" srcOrd="0" destOrd="0" presId="urn:microsoft.com/office/officeart/2005/8/layout/chevron2"/>
    <dgm:cxn modelId="{9E0F5D98-18BD-4C6A-86AE-F45BF6BD277C}" type="presOf" srcId="{C1A44B34-09A7-475D-822F-5ED69EFB293E}" destId="{ECB3A809-FE89-41C2-8CDB-E9358D1A8A28}" srcOrd="0" destOrd="0" presId="urn:microsoft.com/office/officeart/2005/8/layout/chevron2"/>
    <dgm:cxn modelId="{280FB1A8-5787-4C0F-9D5D-6A3AC85DE0F9}" srcId="{C1A44B34-09A7-475D-822F-5ED69EFB293E}" destId="{F4122827-D6BE-4289-9121-2BAFF11401FD}" srcOrd="0" destOrd="0" parTransId="{ECF0F10C-FF59-44F1-812D-6F176B9434F4}" sibTransId="{081E9DE8-44A5-47FB-A4FB-DAAAB7A0F4C4}"/>
    <dgm:cxn modelId="{CCC60E23-F741-4184-8BF2-F622E5DF9193}" type="presParOf" srcId="{ECB3A809-FE89-41C2-8CDB-E9358D1A8A28}" destId="{5C0FD403-8F86-4990-95B0-57821F797667}" srcOrd="0" destOrd="0" presId="urn:microsoft.com/office/officeart/2005/8/layout/chevron2"/>
    <dgm:cxn modelId="{CE338748-E500-4230-A659-4DBA9C09A49D}" type="presParOf" srcId="{5C0FD403-8F86-4990-95B0-57821F797667}" destId="{266A2D41-6EE4-48A3-B14D-5072508A9C6E}" srcOrd="0" destOrd="0" presId="urn:microsoft.com/office/officeart/2005/8/layout/chevron2"/>
    <dgm:cxn modelId="{37B5FF87-2E76-4152-AC03-4BA0C1028DB5}" type="presParOf" srcId="{5C0FD403-8F86-4990-95B0-57821F797667}" destId="{7FA1F5B7-9423-4AC9-9487-6D55B8A92896}"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6E4A6-006F-41AC-A5DC-7963FE381002}">
      <dsp:nvSpPr>
        <dsp:cNvPr id="0" name=""/>
        <dsp:cNvSpPr/>
      </dsp:nvSpPr>
      <dsp:spPr>
        <a:xfrm>
          <a:off x="0" y="23564"/>
          <a:ext cx="6599602" cy="815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dirty="0"/>
            <a:t>Tandrima Nandy (241001271061)</a:t>
          </a:r>
          <a:endParaRPr lang="en-IN" sz="3400" kern="1200" dirty="0"/>
        </a:p>
      </dsp:txBody>
      <dsp:txXfrm>
        <a:off x="39809" y="63373"/>
        <a:ext cx="6519984" cy="735872"/>
      </dsp:txXfrm>
    </dsp:sp>
    <dsp:sp modelId="{43C372F0-B478-4427-B76C-97F575FA9491}">
      <dsp:nvSpPr>
        <dsp:cNvPr id="0" name=""/>
        <dsp:cNvSpPr/>
      </dsp:nvSpPr>
      <dsp:spPr>
        <a:xfrm>
          <a:off x="0" y="955634"/>
          <a:ext cx="6599602" cy="815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Saptarchi Datta (211001091001)</a:t>
          </a:r>
          <a:endParaRPr lang="en-IN" sz="3400" kern="1200"/>
        </a:p>
      </dsp:txBody>
      <dsp:txXfrm>
        <a:off x="39809" y="995443"/>
        <a:ext cx="6519984" cy="735872"/>
      </dsp:txXfrm>
    </dsp:sp>
    <dsp:sp modelId="{6F6C3C21-0481-4803-8440-B833FD3F0059}">
      <dsp:nvSpPr>
        <dsp:cNvPr id="0" name=""/>
        <dsp:cNvSpPr/>
      </dsp:nvSpPr>
      <dsp:spPr>
        <a:xfrm>
          <a:off x="0" y="1869044"/>
          <a:ext cx="6599602" cy="815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Subhadip Maity (241001271128)</a:t>
          </a:r>
          <a:endParaRPr lang="en-IN" sz="3400" kern="1200"/>
        </a:p>
      </dsp:txBody>
      <dsp:txXfrm>
        <a:off x="39809" y="1908853"/>
        <a:ext cx="6519984" cy="735872"/>
      </dsp:txXfrm>
    </dsp:sp>
    <dsp:sp modelId="{BCC2948D-8BE7-46B3-9821-A3B3CC03DDDC}">
      <dsp:nvSpPr>
        <dsp:cNvPr id="0" name=""/>
        <dsp:cNvSpPr/>
      </dsp:nvSpPr>
      <dsp:spPr>
        <a:xfrm>
          <a:off x="0" y="2782454"/>
          <a:ext cx="6599602" cy="815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Arya Kumar Pal (241001271119)</a:t>
          </a:r>
          <a:endParaRPr lang="en-IN" sz="3400" kern="1200"/>
        </a:p>
      </dsp:txBody>
      <dsp:txXfrm>
        <a:off x="39809" y="2822263"/>
        <a:ext cx="6519984" cy="735872"/>
      </dsp:txXfrm>
    </dsp:sp>
    <dsp:sp modelId="{8E7F84BE-A1F5-418A-AABD-FF799365F5C2}">
      <dsp:nvSpPr>
        <dsp:cNvPr id="0" name=""/>
        <dsp:cNvSpPr/>
      </dsp:nvSpPr>
      <dsp:spPr>
        <a:xfrm>
          <a:off x="0" y="3695864"/>
          <a:ext cx="6599602" cy="8154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Shawan Sur (241001271077)</a:t>
          </a:r>
          <a:endParaRPr lang="en-IN" sz="3400" kern="1200"/>
        </a:p>
      </dsp:txBody>
      <dsp:txXfrm>
        <a:off x="39809" y="3735673"/>
        <a:ext cx="6519984" cy="73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A2D41-6EE4-48A3-B14D-5072508A9C6E}">
      <dsp:nvSpPr>
        <dsp:cNvPr id="0" name=""/>
        <dsp:cNvSpPr/>
      </dsp:nvSpPr>
      <dsp:spPr>
        <a:xfrm rot="5400000">
          <a:off x="-1640477" y="1640477"/>
          <a:ext cx="5742992" cy="2462037"/>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kern="1200"/>
            <a:t>The data flow begins when the user uploads a dataset through the system interface. The system first validates the file format to ensure compatibility. Once validated, preprocessing operations are applied to improve data quality. The cleaned dataset is then passed through statistical and AI-based analysis modules. Finally, the system generates visual outputs and analytical insights, which are displayed on the dashboard for user interpretation.</a:t>
          </a:r>
        </a:p>
      </dsp:txBody>
      <dsp:txXfrm rot="-5400000">
        <a:off x="0" y="1231019"/>
        <a:ext cx="2462037" cy="3280955"/>
      </dsp:txXfrm>
    </dsp:sp>
    <dsp:sp modelId="{7FA1F5B7-9423-4AC9-9487-6D55B8A92896}">
      <dsp:nvSpPr>
        <dsp:cNvPr id="0" name=""/>
        <dsp:cNvSpPr/>
      </dsp:nvSpPr>
      <dsp:spPr>
        <a:xfrm rot="5400000">
          <a:off x="2052579" y="428137"/>
          <a:ext cx="4511973" cy="3693056"/>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D870-AF53-2B3C-CE70-DE47049EA1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FE6C06-3B1E-B25E-2E35-2B482AF76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2B4233-DB30-9D21-D39F-01DC0552D050}"/>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9BB430DC-57E7-2DF8-648A-0F7F405A4C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57A55C-85A2-9751-8A60-25F5162F67A3}"/>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876855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4DB7C-4F66-5AFA-B977-59FEC51EA2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CFC6F0-F39A-9F3F-9EEF-3FF7412EDC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5CB51A-D26F-C9FD-6EA4-E7CE6B3268E3}"/>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F0016B10-4C71-A1B7-FC25-FA200667E3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E42076-2E59-6AEC-AEBC-248A962E7D3E}"/>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272928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28BD-8E8A-FA79-334E-EAFA61E79F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1DA163-B16A-BFCB-DEEA-8391FA0DA9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AA79A7-473E-A5E9-8637-92CD5BC0B25A}"/>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A5A4549A-B999-1898-3856-B247BE84E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3D43B6-A706-DB1D-C53D-A25F0D93E125}"/>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314818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26AA-A209-FC6F-1875-6BF66EEFF5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BE6ECA-7F94-3165-D194-A876C41B0A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10B6FA-0926-5EDD-7262-451D3BD7B3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C2CCC9-29F2-2A7E-45CE-0931D0A53A7B}"/>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6" name="Footer Placeholder 5">
            <a:extLst>
              <a:ext uri="{FF2B5EF4-FFF2-40B4-BE49-F238E27FC236}">
                <a16:creationId xmlns:a16="http://schemas.microsoft.com/office/drawing/2014/main" id="{1AD5DC7D-4C8B-489B-34D2-11590B644F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26D277-47A2-259C-D18E-E07511CEC850}"/>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1568102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25260-58D6-6C6B-D75C-1ADEE44233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98DE8E-4940-153E-4810-D7E8F54816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56F840-F412-1C8F-E527-3A8819C661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4759B90-9C2F-A421-3411-BD9029A760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9F0E49-3C23-ABD6-4AAA-A7597AA8CB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2B08D4-BEAB-6E33-A425-395A5B81B245}"/>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8" name="Footer Placeholder 7">
            <a:extLst>
              <a:ext uri="{FF2B5EF4-FFF2-40B4-BE49-F238E27FC236}">
                <a16:creationId xmlns:a16="http://schemas.microsoft.com/office/drawing/2014/main" id="{B1DBCEF4-02ED-21DC-C63D-6D04FAE734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7A1512-1048-4132-CC97-98D391752A93}"/>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4287708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B7F1-DC95-6DEF-D001-4F694CD678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F2155E-3AFC-E69E-E6E2-272C21E847B9}"/>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4" name="Footer Placeholder 3">
            <a:extLst>
              <a:ext uri="{FF2B5EF4-FFF2-40B4-BE49-F238E27FC236}">
                <a16:creationId xmlns:a16="http://schemas.microsoft.com/office/drawing/2014/main" id="{EDBCE38B-1A58-C408-C042-75157A6332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38DDD7-3E13-CB65-1A95-CCD71F36FF4E}"/>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1797817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FAD119-5085-5768-94F7-9E776EF9545B}"/>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3" name="Footer Placeholder 2">
            <a:extLst>
              <a:ext uri="{FF2B5EF4-FFF2-40B4-BE49-F238E27FC236}">
                <a16:creationId xmlns:a16="http://schemas.microsoft.com/office/drawing/2014/main" id="{84C96755-380E-9067-5129-AF74C80757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4A6C308-607D-5B30-C440-77BCCB601DB8}"/>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51245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8C1B4-CB67-B4EB-1AD9-1AF4899B2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6C7DD7-CC31-D71D-0585-4BD2AF417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753F53-B455-4A22-C736-24633C469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B3AF1-CE99-1AF3-FDE6-FE6EE1AEDD97}"/>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6" name="Footer Placeholder 5">
            <a:extLst>
              <a:ext uri="{FF2B5EF4-FFF2-40B4-BE49-F238E27FC236}">
                <a16:creationId xmlns:a16="http://schemas.microsoft.com/office/drawing/2014/main" id="{8F63D5AB-D2E1-2632-CF63-3A405D2C30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8FE684-F4EF-44E1-595E-B1F8A1254ADA}"/>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2765050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5384-6C24-10CE-9AE4-D2F8939A7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D81E7E-7E5E-0625-317C-8A56B07F13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3B756A-4067-736B-F678-6063F230F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DFD70E-CD5D-59AB-6248-22A3422ECB60}"/>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6" name="Footer Placeholder 5">
            <a:extLst>
              <a:ext uri="{FF2B5EF4-FFF2-40B4-BE49-F238E27FC236}">
                <a16:creationId xmlns:a16="http://schemas.microsoft.com/office/drawing/2014/main" id="{F0C19685-B0C3-0B8D-D602-7449DA2591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FEE8D3-D2A7-6D8A-B2B1-18ECA47B32DD}"/>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2901184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9BF4-3B76-AB3F-4929-170535BCC0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3150B8-0940-EB5A-A309-99EF1B0616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78C72E-0E4D-579D-52BD-7877CFC9C6A8}"/>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909B0ED4-3435-0476-3A79-B671AF915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9BEEB7-66C8-0E12-D132-274C617E79AA}"/>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297125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9BCDFB-4FF8-1BDF-9E24-3A1200CF15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48B7E9-3E11-DEBF-F32B-0B6D1E3BC8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82D569-E071-C476-CA4F-377FA3268D82}"/>
              </a:ext>
            </a:extLst>
          </p:cNvPr>
          <p:cNvSpPr>
            <a:spLocks noGrp="1"/>
          </p:cNvSpPr>
          <p:nvPr>
            <p:ph type="dt" sz="half" idx="10"/>
          </p:nvPr>
        </p:nvSpPr>
        <p:spPr/>
        <p:txBody>
          <a:body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5F650355-F0CC-EE65-17B2-1FD627EAF5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F6A4AE-4F7E-56E3-4438-CC29D10173D3}"/>
              </a:ext>
            </a:extLst>
          </p:cNvPr>
          <p:cNvSpPr>
            <a:spLocks noGrp="1"/>
          </p:cNvSpPr>
          <p:nvPr>
            <p:ph type="sldNum" sz="quarter" idx="12"/>
          </p:nvPr>
        </p:nvSpPr>
        <p:spPr/>
        <p:txBody>
          <a:bodyPr/>
          <a:lstStyle/>
          <a:p>
            <a:fld id="{78833D60-8DF8-4435-A185-2458C1C689B6}" type="slidenum">
              <a:rPr lang="en-IN" smtClean="0"/>
              <a:t>‹#›</a:t>
            </a:fld>
            <a:endParaRPr lang="en-IN"/>
          </a:p>
        </p:txBody>
      </p:sp>
    </p:spTree>
    <p:extLst>
      <p:ext uri="{BB962C8B-B14F-4D97-AF65-F5344CB8AC3E}">
        <p14:creationId xmlns:p14="http://schemas.microsoft.com/office/powerpoint/2010/main" val="406822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29812F-4BE6-E7B9-41C7-DB3974438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12A258-A13A-3F74-83FA-0E0CFE5F5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B7A2BC-0B64-7606-9C21-236012B1FA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AE975C-19C1-426F-B0C6-D678A9E5EAA2}" type="datetimeFigureOut">
              <a:rPr lang="en-IN" smtClean="0"/>
              <a:t>08-06-2026</a:t>
            </a:fld>
            <a:endParaRPr lang="en-IN"/>
          </a:p>
        </p:txBody>
      </p:sp>
      <p:sp>
        <p:nvSpPr>
          <p:cNvPr id="5" name="Footer Placeholder 4">
            <a:extLst>
              <a:ext uri="{FF2B5EF4-FFF2-40B4-BE49-F238E27FC236}">
                <a16:creationId xmlns:a16="http://schemas.microsoft.com/office/drawing/2014/main" id="{1B89CDC9-5BB9-5195-66C2-D00C0D8199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E96D920-C5A5-3AFA-582E-29394FBDBC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33D60-8DF8-4435-A185-2458C1C689B6}" type="slidenum">
              <a:rPr lang="en-IN" smtClean="0"/>
              <a:t>‹#›</a:t>
            </a:fld>
            <a:endParaRPr lang="en-IN"/>
          </a:p>
        </p:txBody>
      </p:sp>
    </p:spTree>
    <p:extLst>
      <p:ext uri="{BB962C8B-B14F-4D97-AF65-F5344CB8AC3E}">
        <p14:creationId xmlns:p14="http://schemas.microsoft.com/office/powerpoint/2010/main" val="2108897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creativecommons.org/licenses/by-nc-sa/3.0/" TargetMode="Externa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apicciano.commons.gc.cuny.edu/2020/07/02/national-research-cloud-coming-would-spur-artificial-intelligence-development/" TargetMode="External"/><Relationship Id="rId7" Type="http://schemas.openxmlformats.org/officeDocument/2006/relationships/diagramQuickStyle" Target="../diagrams/quickStyle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hyperlink" Target="https://creativecommons.org/licenses/by-nc-sa/3.0/"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creativecommons.org/licenses/by-nc-sa/3.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creativecommons.org/licenses/by-nc-sa/3.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creativecommons.org/licenses/by-nc-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hyperlink" Target="https://creativecommons.org/licenses/by-nc-sa/3.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creativecommons.org/licenses/by-nc-sa/3.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hyperlink" Target="https://creativecommons.org/licenses/by-nc-sa/3.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creativecommons.org/licenses/by-nc-sa/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s://creativecommons.org/licenses/by-nc-sa/3.0/"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hyperlink" Target="https://creativecommons.org/licenses/by-nc-sa/3.0/"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hyperlink" Target="https://creativecommons.org/licenses/by-nc-sa/3.0/"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hyperlink" Target="https://creativecommons.org/licenses/by-nc-sa/3.0/"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hyperlink" Target="https://creativecommons.org/licenses/by-nc-sa/3.0/"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creativecommons.org/licenses/by-nc-sa/3.0/"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hyperlink" Target="https://creativecommons.org/licenses/by-nc-sa/3.0/"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hyperlink" Target="https://creativecommons.org/licenses/by-nc-sa/3.0/"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creativecommons.org/licenses/by-nc-sa/3.0/" TargetMode="External"/></Relationships>
</file>

<file path=ppt/slides/_rels/slide19.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hyperlink" Target="https://apicciano.commons.gc.cuny.edu/2020/07/02/national-research-cloud-coming-would-spur-artificial-intelligence-development/" TargetMode="External"/><Relationship Id="rId7" Type="http://schemas.openxmlformats.org/officeDocument/2006/relationships/diagramLayout" Target="../diagrams/layout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Data" Target="../diagrams/data2.xml"/><Relationship Id="rId11" Type="http://schemas.openxmlformats.org/officeDocument/2006/relationships/image" Target="../media/image18.png"/><Relationship Id="rId5" Type="http://schemas.openxmlformats.org/officeDocument/2006/relationships/image" Target="../media/image17.png"/><Relationship Id="rId10" Type="http://schemas.microsoft.com/office/2007/relationships/diagramDrawing" Target="../diagrams/drawing2.xml"/><Relationship Id="rId4" Type="http://schemas.openxmlformats.org/officeDocument/2006/relationships/hyperlink" Target="https://creativecommons.org/licenses/by-nc-sa/3.0/" TargetMode="External"/><Relationship Id="rId9" Type="http://schemas.openxmlformats.org/officeDocument/2006/relationships/diagramColors" Target="../diagrams/colors2.xml"/></Relationships>
</file>

<file path=ppt/slides/_rels/slide20.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hyperlink" Target="https://creativecommons.org/licenses/by-nc-sa/3.0/"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creativecommons.org/licenses/by-nc-sa/3.0/"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creativecommons.org/licenses/by-nc-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3A985C-4F9C-8826-32F3-DF2872CE55F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65314"/>
            <a:ext cx="12192000" cy="6858000"/>
          </a:xfrm>
          <a:prstGeom prst="rect">
            <a:avLst/>
          </a:prstGeom>
        </p:spPr>
      </p:pic>
      <p:sp>
        <p:nvSpPr>
          <p:cNvPr id="8" name="TextBox 7">
            <a:extLst>
              <a:ext uri="{FF2B5EF4-FFF2-40B4-BE49-F238E27FC236}">
                <a16:creationId xmlns:a16="http://schemas.microsoft.com/office/drawing/2014/main" id="{92544E50-CDB2-4AFC-D0D3-C664E79A1D9E}"/>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10" name="TextBox 9">
            <a:extLst>
              <a:ext uri="{FF2B5EF4-FFF2-40B4-BE49-F238E27FC236}">
                <a16:creationId xmlns:a16="http://schemas.microsoft.com/office/drawing/2014/main" id="{83B32959-402A-CD4A-5FD6-50A109D214F2}"/>
              </a:ext>
            </a:extLst>
          </p:cNvPr>
          <p:cNvSpPr txBox="1"/>
          <p:nvPr/>
        </p:nvSpPr>
        <p:spPr>
          <a:xfrm>
            <a:off x="162613" y="0"/>
            <a:ext cx="6169842" cy="923330"/>
          </a:xfrm>
          <a:prstGeom prst="rect">
            <a:avLst/>
          </a:prstGeom>
          <a:noFill/>
        </p:spPr>
        <p:txBody>
          <a:bodyPr wrap="square">
            <a:spAutoFit/>
          </a:bodyPr>
          <a:lstStyle/>
          <a:p>
            <a:r>
              <a:rPr lang="en-IN"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TEAM JASS</a:t>
            </a:r>
          </a:p>
        </p:txBody>
      </p:sp>
      <p:pic>
        <p:nvPicPr>
          <p:cNvPr id="11" name="Picture 10">
            <a:extLst>
              <a:ext uri="{FF2B5EF4-FFF2-40B4-BE49-F238E27FC236}">
                <a16:creationId xmlns:a16="http://schemas.microsoft.com/office/drawing/2014/main" id="{52011F59-0D8F-3CC0-73CB-B3D189259626}"/>
              </a:ext>
            </a:extLst>
          </p:cNvPr>
          <p:cNvPicPr>
            <a:picLocks noChangeAspect="1"/>
          </p:cNvPicPr>
          <p:nvPr/>
        </p:nvPicPr>
        <p:blipFill>
          <a:blip r:embed="rId5"/>
          <a:stretch>
            <a:fillRect/>
          </a:stretch>
        </p:blipFill>
        <p:spPr>
          <a:xfrm>
            <a:off x="2021281" y="1765596"/>
            <a:ext cx="989798" cy="993120"/>
          </a:xfrm>
          <a:prstGeom prst="rect">
            <a:avLst/>
          </a:prstGeom>
        </p:spPr>
      </p:pic>
      <p:sp>
        <p:nvSpPr>
          <p:cNvPr id="15" name="TextBox 14">
            <a:extLst>
              <a:ext uri="{FF2B5EF4-FFF2-40B4-BE49-F238E27FC236}">
                <a16:creationId xmlns:a16="http://schemas.microsoft.com/office/drawing/2014/main" id="{AB9F4713-B520-DB97-08D6-C3F81364BBCA}"/>
              </a:ext>
            </a:extLst>
          </p:cNvPr>
          <p:cNvSpPr txBox="1"/>
          <p:nvPr/>
        </p:nvSpPr>
        <p:spPr>
          <a:xfrm>
            <a:off x="3011079" y="1969769"/>
            <a:ext cx="6478154" cy="584775"/>
          </a:xfrm>
          <a:prstGeom prst="rect">
            <a:avLst/>
          </a:prstGeom>
          <a:noFill/>
        </p:spPr>
        <p:txBody>
          <a:bodyPr wrap="square">
            <a:prstTxWarp prst="textDoubleWave1">
              <a:avLst/>
            </a:prstTxWarp>
            <a:spAutoFit/>
          </a:bodyPr>
          <a:lstStyle/>
          <a:p>
            <a:r>
              <a:rPr lang="en-US" sz="1800" b="1" dirty="0">
                <a:ln w="22225">
                  <a:solidFill>
                    <a:srgbClr val="FF0000"/>
                  </a:solidFill>
                  <a:prstDash val="solid"/>
                </a:ln>
                <a:solidFill>
                  <a:srgbClr val="FF0000"/>
                </a:solidFill>
                <a:highlight>
                  <a:srgbClr val="000080"/>
                </a:highlight>
              </a:rPr>
              <a:t> </a:t>
            </a:r>
            <a:r>
              <a:rPr lang="en-US" sz="3200" b="1" dirty="0">
                <a:ln w="12700">
                  <a:solidFill>
                    <a:schemeClr val="accent5"/>
                  </a:solidFill>
                  <a:prstDash val="solid"/>
                </a:ln>
                <a:pattFill prst="ltDnDiag">
                  <a:fgClr>
                    <a:schemeClr val="accent5">
                      <a:lumMod val="60000"/>
                      <a:lumOff val="40000"/>
                    </a:schemeClr>
                  </a:fgClr>
                  <a:bgClr>
                    <a:schemeClr val="bg1"/>
                  </a:bgClr>
                </a:pattFill>
                <a:highlight>
                  <a:srgbClr val="000080"/>
                </a:highlight>
              </a:rPr>
              <a:t>TECHNO INDIA UNIVERSITY</a:t>
            </a:r>
            <a:endParaRPr lang="en-IN" dirty="0">
              <a:highlight>
                <a:srgbClr val="000080"/>
              </a:highlight>
            </a:endParaRPr>
          </a:p>
        </p:txBody>
      </p:sp>
      <p:sp>
        <p:nvSpPr>
          <p:cNvPr id="19" name="TextBox 18">
            <a:extLst>
              <a:ext uri="{FF2B5EF4-FFF2-40B4-BE49-F238E27FC236}">
                <a16:creationId xmlns:a16="http://schemas.microsoft.com/office/drawing/2014/main" id="{6B8B81AB-C8B0-6068-CBF1-4D5F55DDEBF6}"/>
              </a:ext>
            </a:extLst>
          </p:cNvPr>
          <p:cNvSpPr txBox="1"/>
          <p:nvPr/>
        </p:nvSpPr>
        <p:spPr>
          <a:xfrm>
            <a:off x="2943522" y="2865094"/>
            <a:ext cx="6169842" cy="304698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a:prstTxWarp prst="textPlain">
              <a:avLst/>
            </a:prstTxWarp>
            <a:spAutoFit/>
          </a:bodyPr>
          <a:lstStyle/>
          <a:p>
            <a:pPr algn="ctr"/>
            <a:r>
              <a:rPr lang="en-US" sz="3200" b="1" dirty="0">
                <a:ln w="9525">
                  <a:solidFill>
                    <a:srgbClr val="002060"/>
                  </a:solidFill>
                  <a:prstDash val="solid"/>
                </a:ln>
                <a:effectLst>
                  <a:outerShdw blurRad="12700" dist="38100" dir="2700000" algn="tl" rotWithShape="0">
                    <a:schemeClr val="bg1">
                      <a:lumMod val="50000"/>
                    </a:schemeClr>
                  </a:outerShdw>
                </a:effectLst>
              </a:rPr>
              <a:t> MAJOR Project </a:t>
            </a:r>
          </a:p>
          <a:p>
            <a:pPr algn="ctr"/>
            <a:r>
              <a:rPr lang="en-US" sz="3200" b="1" dirty="0">
                <a:ln w="9525">
                  <a:solidFill>
                    <a:srgbClr val="002060"/>
                  </a:solidFill>
                  <a:prstDash val="solid"/>
                </a:ln>
                <a:effectLst>
                  <a:outerShdw blurRad="12700" dist="38100" dir="2700000" algn="tl" rotWithShape="0">
                    <a:schemeClr val="bg1">
                      <a:lumMod val="50000"/>
                    </a:schemeClr>
                  </a:outerShdw>
                </a:effectLst>
              </a:rPr>
              <a:t>TOPIC :- </a:t>
            </a:r>
            <a:r>
              <a:rPr 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DATA SENSE using AI</a:t>
            </a:r>
          </a:p>
          <a:p>
            <a:pPr algn="ctr"/>
            <a:r>
              <a:rPr lang="en-US" sz="3200" b="1" dirty="0">
                <a:ln w="9525">
                  <a:solidFill>
                    <a:srgbClr val="002060"/>
                  </a:solidFill>
                  <a:prstDash val="solid"/>
                </a:ln>
                <a:effectLst>
                  <a:outerShdw blurRad="12700" dist="38100" dir="2700000" algn="tl" rotWithShape="0">
                    <a:schemeClr val="bg1">
                      <a:lumMod val="50000"/>
                    </a:schemeClr>
                  </a:outerShdw>
                </a:effectLst>
              </a:rPr>
              <a:t>4</a:t>
            </a:r>
            <a:r>
              <a:rPr lang="en-US" sz="3200" b="1" baseline="30000" dirty="0">
                <a:ln w="9525">
                  <a:solidFill>
                    <a:srgbClr val="002060"/>
                  </a:solidFill>
                  <a:prstDash val="solid"/>
                </a:ln>
                <a:effectLst>
                  <a:outerShdw blurRad="12700" dist="38100" dir="2700000" algn="tl" rotWithShape="0">
                    <a:schemeClr val="bg1">
                      <a:lumMod val="50000"/>
                    </a:schemeClr>
                  </a:outerShdw>
                </a:effectLst>
              </a:rPr>
              <a:t>TH</a:t>
            </a:r>
            <a:r>
              <a:rPr lang="en-US" sz="3200" b="1" dirty="0">
                <a:ln w="9525">
                  <a:solidFill>
                    <a:srgbClr val="002060"/>
                  </a:solidFill>
                  <a:prstDash val="solid"/>
                </a:ln>
                <a:effectLst>
                  <a:outerShdw blurRad="12700" dist="38100" dir="2700000" algn="tl" rotWithShape="0">
                    <a:schemeClr val="bg1">
                      <a:lumMod val="50000"/>
                    </a:schemeClr>
                  </a:outerShdw>
                </a:effectLst>
              </a:rPr>
              <a:t>  Semester</a:t>
            </a:r>
          </a:p>
          <a:p>
            <a:pPr algn="ctr"/>
            <a:r>
              <a:rPr lang="en-US" sz="3200" b="1" dirty="0">
                <a:ln w="9525">
                  <a:solidFill>
                    <a:srgbClr val="002060"/>
                  </a:solidFill>
                  <a:prstDash val="solid"/>
                </a:ln>
                <a:effectLst>
                  <a:outerShdw blurRad="12700" dist="38100" dir="2700000" algn="tl" rotWithShape="0">
                    <a:schemeClr val="bg1">
                      <a:lumMod val="50000"/>
                    </a:schemeClr>
                  </a:outerShdw>
                </a:effectLst>
              </a:rPr>
              <a:t>STREAM :-    MCA 2B</a:t>
            </a:r>
          </a:p>
          <a:p>
            <a:pPr algn="ctr"/>
            <a:r>
              <a:rPr lang="en-US" sz="3200" b="1" dirty="0">
                <a:ln w="9525">
                  <a:solidFill>
                    <a:srgbClr val="002060"/>
                  </a:solidFill>
                  <a:prstDash val="solid"/>
                </a:ln>
                <a:effectLst>
                  <a:outerShdw blurRad="12700" dist="38100" dir="2700000" algn="tl" rotWithShape="0">
                    <a:schemeClr val="bg1">
                      <a:lumMod val="50000"/>
                    </a:schemeClr>
                  </a:outerShdw>
                </a:effectLst>
              </a:rPr>
              <a:t>SESSION :-   2024-2026</a:t>
            </a:r>
          </a:p>
          <a:p>
            <a:pPr algn="ctr"/>
            <a:r>
              <a:rPr lang="en-US" sz="3200" b="1" dirty="0">
                <a:ln w="9525">
                  <a:solidFill>
                    <a:srgbClr val="002060"/>
                  </a:solidFill>
                  <a:prstDash val="solid"/>
                </a:ln>
                <a:effectLst>
                  <a:outerShdw blurRad="12700" dist="38100" dir="2700000" algn="tl" rotWithShape="0">
                    <a:schemeClr val="bg1">
                      <a:lumMod val="50000"/>
                    </a:schemeClr>
                  </a:outerShdw>
                </a:effectLst>
              </a:rPr>
              <a:t>DATE :-  20.05.2026</a:t>
            </a:r>
            <a:endParaRPr lang="en-IN" sz="2800" dirty="0">
              <a:ln w="9525">
                <a:solidFill>
                  <a:srgbClr val="002060"/>
                </a:solidFill>
                <a:prstDash val="solid"/>
              </a:ln>
              <a:effectLst>
                <a:glow rad="228600">
                  <a:schemeClr val="accent6">
                    <a:satMod val="175000"/>
                    <a:alpha val="40000"/>
                  </a:schemeClr>
                </a:glow>
              </a:effectLst>
            </a:endParaRPr>
          </a:p>
        </p:txBody>
      </p:sp>
      <p:pic>
        <p:nvPicPr>
          <p:cNvPr id="20" name="Picture 19">
            <a:extLst>
              <a:ext uri="{FF2B5EF4-FFF2-40B4-BE49-F238E27FC236}">
                <a16:creationId xmlns:a16="http://schemas.microsoft.com/office/drawing/2014/main" id="{BEF644F4-0FBE-11E1-C5CB-E84650E9D6D8}"/>
              </a:ext>
            </a:extLst>
          </p:cNvPr>
          <p:cNvPicPr>
            <a:picLocks noChangeAspect="1"/>
          </p:cNvPicPr>
          <p:nvPr/>
        </p:nvPicPr>
        <p:blipFill>
          <a:blip r:embed="rId5"/>
          <a:stretch>
            <a:fillRect/>
          </a:stretch>
        </p:blipFill>
        <p:spPr>
          <a:xfrm>
            <a:off x="9474949" y="1871974"/>
            <a:ext cx="989798" cy="993120"/>
          </a:xfrm>
          <a:prstGeom prst="rect">
            <a:avLst/>
          </a:prstGeom>
        </p:spPr>
      </p:pic>
    </p:spTree>
    <p:extLst>
      <p:ext uri="{BB962C8B-B14F-4D97-AF65-F5344CB8AC3E}">
        <p14:creationId xmlns:p14="http://schemas.microsoft.com/office/powerpoint/2010/main" val="2382043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92E2-7916-DAED-9D1F-76C61849D85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96037EA-3856-A06E-E13C-7CBC81D840F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025D79B1-D991-48BD-7A9D-37AA522E3635}"/>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3" name="TextBox 2">
            <a:extLst>
              <a:ext uri="{FF2B5EF4-FFF2-40B4-BE49-F238E27FC236}">
                <a16:creationId xmlns:a16="http://schemas.microsoft.com/office/drawing/2014/main" id="{1B6F1C94-0B9B-BD92-0372-7899C582F8BB}"/>
              </a:ext>
            </a:extLst>
          </p:cNvPr>
          <p:cNvSpPr txBox="1"/>
          <p:nvPr/>
        </p:nvSpPr>
        <p:spPr>
          <a:xfrm>
            <a:off x="3272713" y="0"/>
            <a:ext cx="6097554" cy="769441"/>
          </a:xfrm>
          <a:prstGeom prst="rect">
            <a:avLst/>
          </a:prstGeom>
          <a:noFill/>
        </p:spPr>
        <p:txBody>
          <a:bodyPr wrap="square">
            <a:spAutoFit/>
          </a:bodyPr>
          <a:lstStyle/>
          <a:p>
            <a:r>
              <a:rPr lang="en-US" sz="4400" b="1" u="sng" dirty="0">
                <a:ln w="12700">
                  <a:solidFill>
                    <a:schemeClr val="accent5"/>
                  </a:solidFill>
                  <a:prstDash val="solid"/>
                </a:ln>
                <a:pattFill prst="ltDnDiag">
                  <a:fgClr>
                    <a:schemeClr val="accent5">
                      <a:lumMod val="60000"/>
                      <a:lumOff val="40000"/>
                    </a:schemeClr>
                  </a:fgClr>
                  <a:bgClr>
                    <a:schemeClr val="bg1"/>
                  </a:bgClr>
                </a:pattFill>
                <a:latin typeface="Algerian" panose="04020705040A02060702" pitchFamily="82" charset="0"/>
              </a:rPr>
              <a:t>:TEAM</a:t>
            </a:r>
            <a:r>
              <a:rPr lang="en-US" sz="4400" b="1" dirty="0">
                <a:ln w="12700">
                  <a:solidFill>
                    <a:schemeClr val="accent5"/>
                  </a:solidFill>
                  <a:prstDash val="solid"/>
                </a:ln>
                <a:pattFill prst="ltDnDiag">
                  <a:fgClr>
                    <a:schemeClr val="accent5">
                      <a:lumMod val="60000"/>
                      <a:lumOff val="40000"/>
                    </a:schemeClr>
                  </a:fgClr>
                  <a:bgClr>
                    <a:schemeClr val="bg1"/>
                  </a:bgClr>
                </a:pattFill>
                <a:latin typeface="Algerian" panose="04020705040A02060702" pitchFamily="82" charset="0"/>
              </a:rPr>
              <a:t> </a:t>
            </a:r>
            <a:r>
              <a:rPr lang="en-US" sz="4400" b="1" u="sng" dirty="0">
                <a:ln w="12700">
                  <a:solidFill>
                    <a:schemeClr val="accent5"/>
                  </a:solidFill>
                  <a:prstDash val="solid"/>
                </a:ln>
                <a:pattFill prst="ltDnDiag">
                  <a:fgClr>
                    <a:schemeClr val="accent5">
                      <a:lumMod val="60000"/>
                      <a:lumOff val="40000"/>
                    </a:schemeClr>
                  </a:fgClr>
                  <a:bgClr>
                    <a:schemeClr val="bg1"/>
                  </a:bgClr>
                </a:pattFill>
                <a:latin typeface="Algerian" panose="04020705040A02060702" pitchFamily="82" charset="0"/>
              </a:rPr>
              <a:t>MEMBERS</a:t>
            </a:r>
            <a:r>
              <a:rPr lang="en-US" sz="1800" b="1" u="sng" dirty="0">
                <a:ln w="12700">
                  <a:solidFill>
                    <a:schemeClr val="accent5"/>
                  </a:solidFill>
                  <a:prstDash val="solid"/>
                </a:ln>
                <a:pattFill prst="ltDnDiag">
                  <a:fgClr>
                    <a:schemeClr val="accent5">
                      <a:lumMod val="60000"/>
                      <a:lumOff val="40000"/>
                    </a:schemeClr>
                  </a:fgClr>
                  <a:bgClr>
                    <a:schemeClr val="bg1"/>
                  </a:bgClr>
                </a:pattFill>
                <a:latin typeface="Algerian" panose="04020705040A02060702" pitchFamily="82" charset="0"/>
              </a:rPr>
              <a:t>:</a:t>
            </a:r>
            <a:endParaRPr lang="en-IN" sz="1800" b="1" u="sng" dirty="0">
              <a:ln w="12700">
                <a:solidFill>
                  <a:schemeClr val="accent5"/>
                </a:solidFill>
                <a:prstDash val="solid"/>
              </a:ln>
              <a:pattFill prst="ltDnDiag">
                <a:fgClr>
                  <a:schemeClr val="accent5">
                    <a:lumMod val="60000"/>
                    <a:lumOff val="40000"/>
                  </a:schemeClr>
                </a:fgClr>
                <a:bgClr>
                  <a:schemeClr val="bg1"/>
                </a:bgClr>
              </a:pattFill>
              <a:latin typeface="Algerian" panose="04020705040A02060702" pitchFamily="82" charset="0"/>
            </a:endParaRPr>
          </a:p>
        </p:txBody>
      </p:sp>
      <p:graphicFrame>
        <p:nvGraphicFramePr>
          <p:cNvPr id="17" name="Diagram 16">
            <a:extLst>
              <a:ext uri="{FF2B5EF4-FFF2-40B4-BE49-F238E27FC236}">
                <a16:creationId xmlns:a16="http://schemas.microsoft.com/office/drawing/2014/main" id="{BB3B45AC-1630-9D43-1685-098C8945F166}"/>
              </a:ext>
            </a:extLst>
          </p:cNvPr>
          <p:cNvGraphicFramePr/>
          <p:nvPr>
            <p:extLst>
              <p:ext uri="{D42A27DB-BD31-4B8C-83A1-F6EECF244321}">
                <p14:modId xmlns:p14="http://schemas.microsoft.com/office/powerpoint/2010/main" val="3935965070"/>
              </p:ext>
            </p:extLst>
          </p:nvPr>
        </p:nvGraphicFramePr>
        <p:xfrm>
          <a:off x="2205384" y="1536931"/>
          <a:ext cx="6599603" cy="45535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20180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0F90D-6334-3D04-498E-B027E8CC7E9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A7E8BD0-B24C-F555-AD61-EDBA93474D4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A9DDC2B9-9A0B-7ECA-8BFD-B761630951A0}"/>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3" name="TextBox 2">
            <a:extLst>
              <a:ext uri="{FF2B5EF4-FFF2-40B4-BE49-F238E27FC236}">
                <a16:creationId xmlns:a16="http://schemas.microsoft.com/office/drawing/2014/main" id="{DBC82D9E-4FDA-F452-D873-FEF5EB68DE6E}"/>
              </a:ext>
            </a:extLst>
          </p:cNvPr>
          <p:cNvSpPr txBox="1"/>
          <p:nvPr/>
        </p:nvSpPr>
        <p:spPr>
          <a:xfrm>
            <a:off x="264816" y="522513"/>
            <a:ext cx="8278585" cy="2739211"/>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buNone/>
            </a:pPr>
            <a:r>
              <a:rPr lang="en-US" sz="3200" b="1" dirty="0">
                <a:highlight>
                  <a:srgbClr val="C0C0C0"/>
                </a:highlight>
              </a:rPr>
              <a:t>Introduction :</a:t>
            </a:r>
          </a:p>
          <a:p>
            <a:pPr>
              <a:buFont typeface="Arial" panose="020B0604020202020204" pitchFamily="34" charset="0"/>
              <a:buChar char="•"/>
            </a:pPr>
            <a:r>
              <a:rPr lang="en-US" sz="2800" dirty="0"/>
              <a:t>AI has revolutionized modern data analytics</a:t>
            </a:r>
          </a:p>
          <a:p>
            <a:pPr>
              <a:buFont typeface="Arial" panose="020B0604020202020204" pitchFamily="34" charset="0"/>
              <a:buChar char="•"/>
            </a:pPr>
            <a:r>
              <a:rPr lang="en-US" sz="2800" dirty="0" err="1"/>
              <a:t>DataSense</a:t>
            </a:r>
            <a:r>
              <a:rPr lang="en-US" sz="2800" dirty="0"/>
              <a:t> AI automates data cleaning, analysis, and visualization</a:t>
            </a:r>
          </a:p>
          <a:p>
            <a:pPr>
              <a:buFont typeface="Arial" panose="020B0604020202020204" pitchFamily="34" charset="0"/>
              <a:buChar char="•"/>
            </a:pPr>
            <a:r>
              <a:rPr lang="en-US" sz="2800" dirty="0"/>
              <a:t>Designed for students, researchers &amp; non-technical users</a:t>
            </a:r>
          </a:p>
        </p:txBody>
      </p:sp>
      <p:sp>
        <p:nvSpPr>
          <p:cNvPr id="6" name="Rectangle 2">
            <a:extLst>
              <a:ext uri="{FF2B5EF4-FFF2-40B4-BE49-F238E27FC236}">
                <a16:creationId xmlns:a16="http://schemas.microsoft.com/office/drawing/2014/main" id="{CCAF207A-1601-88B9-63A0-9980B4C621B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6FAF795C-4CB2-FF42-6F70-59024967805F}"/>
              </a:ext>
            </a:extLst>
          </p:cNvPr>
          <p:cNvSpPr txBox="1"/>
          <p:nvPr/>
        </p:nvSpPr>
        <p:spPr>
          <a:xfrm>
            <a:off x="2360645" y="3721034"/>
            <a:ext cx="9731828" cy="267765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What is </a:t>
            </a:r>
            <a:r>
              <a:rPr kumimoji="0" lang="en-US" altLang="en-US" sz="2400" b="1" i="0" u="none" strike="noStrike" cap="none" normalizeH="0" baseline="0" dirty="0" err="1">
                <a:ln>
                  <a:noFill/>
                </a:ln>
                <a:solidFill>
                  <a:schemeClr val="tx1"/>
                </a:solidFill>
                <a:effectLst/>
                <a:latin typeface="Arial" panose="020B0604020202020204" pitchFamily="34" charset="0"/>
              </a:rPr>
              <a:t>DataSense</a:t>
            </a:r>
            <a:r>
              <a:rPr kumimoji="0" lang="en-US" altLang="en-US" sz="2400" b="1" i="0" u="none" strike="noStrike" cap="none" normalizeH="0" baseline="0" dirty="0">
                <a:ln>
                  <a:noFill/>
                </a:ln>
                <a:solidFill>
                  <a:schemeClr val="tx1"/>
                </a:solidFill>
                <a:effectLst/>
                <a:latin typeface="Arial" panose="020B0604020202020204" pitchFamily="34" charset="0"/>
              </a:rPr>
              <a:t> AI?</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A sophisticated system designed to analyze raw, unstructured data.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Utilizes AI algorithms to identify hidden patterns.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Bridge the gap between big data and human decision-making.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Core Goal:</a:t>
            </a:r>
            <a:r>
              <a:rPr kumimoji="0" lang="en-US" altLang="en-US" sz="2400" b="0" i="0" u="none" strike="noStrike" cap="none" normalizeH="0" baseline="0" dirty="0">
                <a:ln>
                  <a:noFill/>
                </a:ln>
                <a:solidFill>
                  <a:schemeClr val="tx1"/>
                </a:solidFill>
                <a:effectLst/>
                <a:latin typeface="Arial" panose="020B0604020202020204" pitchFamily="34" charset="0"/>
              </a:rPr>
              <a:t> To automate the data interpretation process and provide high-accuracy predictive insights.</a:t>
            </a:r>
          </a:p>
        </p:txBody>
      </p:sp>
    </p:spTree>
    <p:extLst>
      <p:ext uri="{BB962C8B-B14F-4D97-AF65-F5344CB8AC3E}">
        <p14:creationId xmlns:p14="http://schemas.microsoft.com/office/powerpoint/2010/main" val="1527893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3DCB-3F91-7E39-D505-9B6BB548747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3B50957-0687-F0A4-7E30-5AACBE2545E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2E7BC4E9-CB91-E660-52B3-D5425FC3DED7}"/>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3" name="TextBox 2">
            <a:extLst>
              <a:ext uri="{FF2B5EF4-FFF2-40B4-BE49-F238E27FC236}">
                <a16:creationId xmlns:a16="http://schemas.microsoft.com/office/drawing/2014/main" id="{73005981-F23E-31F6-57CB-C45E064090BB}"/>
              </a:ext>
            </a:extLst>
          </p:cNvPr>
          <p:cNvSpPr txBox="1"/>
          <p:nvPr/>
        </p:nvSpPr>
        <p:spPr>
          <a:xfrm>
            <a:off x="307909" y="219269"/>
            <a:ext cx="11504646" cy="3416320"/>
          </a:xfrm>
          <a:prstGeom prst="rect">
            <a:avLst/>
          </a:prstGeom>
          <a:noFill/>
        </p:spPr>
        <p:txBody>
          <a:bodyPr wrap="square" rtlCol="0">
            <a:spAutoFit/>
          </a:bodyPr>
          <a:lstStyle/>
          <a:p>
            <a: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Problem Statement :</a:t>
            </a:r>
          </a:p>
          <a:p>
            <a:endParaRPr lang="en-US" sz="3600" b="1" dirty="0">
              <a:solidFill>
                <a:srgbClr val="00B0F0"/>
              </a:solidFill>
            </a:endParaRPr>
          </a:p>
          <a:p>
            <a:pPr marL="571500" indent="-571500">
              <a:buFont typeface="Arial" panose="020B0604020202020204" pitchFamily="34" charset="0"/>
              <a:buChar char="•"/>
            </a:pPr>
            <a:r>
              <a:rPr lang="en-US" sz="2800" dirty="0">
                <a:solidFill>
                  <a:schemeClr val="bg1"/>
                </a:solidFill>
                <a:highlight>
                  <a:srgbClr val="000080"/>
                </a:highlight>
              </a:rPr>
              <a:t>Manual data analysis is time-consuming</a:t>
            </a:r>
            <a:r>
              <a:rPr lang="en-US" sz="2800" dirty="0">
                <a:solidFill>
                  <a:srgbClr val="00B0F0"/>
                </a:solidFill>
                <a:highlight>
                  <a:srgbClr val="000080"/>
                </a:highlight>
              </a:rPr>
              <a:t>.</a:t>
            </a:r>
          </a:p>
          <a:p>
            <a:pPr marL="571500" indent="-571500">
              <a:buFont typeface="Arial" panose="020B0604020202020204" pitchFamily="34" charset="0"/>
              <a:buChar char="•"/>
            </a:pPr>
            <a:endParaRPr lang="en-US" sz="2800" dirty="0">
              <a:solidFill>
                <a:srgbClr val="00B0F0"/>
              </a:solidFill>
              <a:highlight>
                <a:srgbClr val="000080"/>
              </a:highlight>
            </a:endParaRPr>
          </a:p>
          <a:p>
            <a:pPr lvl="8"/>
            <a:r>
              <a:rPr lang="en-US" sz="2800" dirty="0">
                <a:solidFill>
                  <a:schemeClr val="bg1"/>
                </a:solidFill>
                <a:highlight>
                  <a:srgbClr val="000080"/>
                </a:highlight>
              </a:rPr>
              <a:t>Requires technical skills</a:t>
            </a:r>
          </a:p>
          <a:p>
            <a:endParaRPr lang="en-US" sz="2800" dirty="0"/>
          </a:p>
          <a:p>
            <a:pPr marL="4229100" lvl="8" indent="-571500">
              <a:buFont typeface="Arial" panose="020B0604020202020204" pitchFamily="34" charset="0"/>
              <a:buChar char="•"/>
            </a:pPr>
            <a:r>
              <a:rPr lang="en-US" sz="2800" dirty="0">
                <a:solidFill>
                  <a:schemeClr val="bg1"/>
                </a:solidFill>
                <a:highlight>
                  <a:srgbClr val="000080"/>
                </a:highlight>
              </a:rPr>
              <a:t>Lack of integrated AI-based analytics tools</a:t>
            </a:r>
          </a:p>
        </p:txBody>
      </p:sp>
      <p:sp>
        <p:nvSpPr>
          <p:cNvPr id="6" name="TextBox 5">
            <a:extLst>
              <a:ext uri="{FF2B5EF4-FFF2-40B4-BE49-F238E27FC236}">
                <a16:creationId xmlns:a16="http://schemas.microsoft.com/office/drawing/2014/main" id="{34B4B0C1-CE1C-4CF5-FBF4-80F2F4DEA611}"/>
              </a:ext>
            </a:extLst>
          </p:cNvPr>
          <p:cNvSpPr txBox="1"/>
          <p:nvPr/>
        </p:nvSpPr>
        <p:spPr>
          <a:xfrm>
            <a:off x="445536" y="4041530"/>
            <a:ext cx="10564585" cy="2308324"/>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normalizeH="0" baseline="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rPr>
              <a:t>The Data Overload: </a:t>
            </a:r>
            <a:r>
              <a:rPr kumimoji="0" lang="en-US" altLang="en-US" sz="2400" b="0" i="0" u="none" strike="noStrike" cap="none" normalizeH="0" baseline="0" dirty="0">
                <a:ln>
                  <a:noFill/>
                </a:ln>
                <a:solidFill>
                  <a:schemeClr val="tx1"/>
                </a:solidFill>
                <a:effectLst/>
                <a:latin typeface="Arial" panose="020B0604020202020204" pitchFamily="34" charset="0"/>
              </a:rPr>
              <a:t>Organizations are drowning in "Dark Data" (unstructured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normalizeH="0" baseline="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rPr>
              <a:t>Manual Bottlenecks: </a:t>
            </a:r>
            <a:r>
              <a:rPr kumimoji="0" lang="en-US" altLang="en-US" sz="2400" b="0" i="0" u="none" strike="noStrike" cap="none" normalizeH="0" baseline="0" dirty="0">
                <a:ln>
                  <a:noFill/>
                </a:ln>
                <a:solidFill>
                  <a:schemeClr val="tx1"/>
                </a:solidFill>
                <a:effectLst/>
                <a:latin typeface="Arial" panose="020B0604020202020204" pitchFamily="34" charset="0"/>
              </a:rPr>
              <a:t>Manual analysis is slow, expensive, and prone to error.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normalizeH="0" baseline="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rPr>
              <a:t>The Need: </a:t>
            </a:r>
            <a:r>
              <a:rPr kumimoji="0" lang="en-US" altLang="en-US" sz="2400" b="0" i="0" u="none" strike="noStrike" cap="none" normalizeH="0" baseline="0" dirty="0">
                <a:ln>
                  <a:noFill/>
                </a:ln>
                <a:solidFill>
                  <a:schemeClr val="tx1"/>
                </a:solidFill>
                <a:effectLst/>
                <a:latin typeface="Arial" panose="020B0604020202020204" pitchFamily="34" charset="0"/>
              </a:rPr>
              <a:t>A system that can digest massive datasets and provide "Smarter, Faster, and more Accurate" interpretations.</a:t>
            </a:r>
          </a:p>
        </p:txBody>
      </p:sp>
    </p:spTree>
    <p:extLst>
      <p:ext uri="{BB962C8B-B14F-4D97-AF65-F5344CB8AC3E}">
        <p14:creationId xmlns:p14="http://schemas.microsoft.com/office/powerpoint/2010/main" val="873699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8969E-3909-DBFB-D1B1-D42B3416657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DADF61A-1AD4-FF82-714D-3D8DE7604DC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515BD747-5268-D072-1796-4CB42B7DEBAB}"/>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3" name="Picture 2">
            <a:extLst>
              <a:ext uri="{FF2B5EF4-FFF2-40B4-BE49-F238E27FC236}">
                <a16:creationId xmlns:a16="http://schemas.microsoft.com/office/drawing/2014/main" id="{65351081-1754-8B4B-FFBB-F698A04C65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1475" y="406960"/>
            <a:ext cx="9042785" cy="6044080"/>
          </a:xfrm>
          <a:prstGeom prst="rect">
            <a:avLst/>
          </a:prstGeom>
        </p:spPr>
      </p:pic>
    </p:spTree>
    <p:extLst>
      <p:ext uri="{BB962C8B-B14F-4D97-AF65-F5344CB8AC3E}">
        <p14:creationId xmlns:p14="http://schemas.microsoft.com/office/powerpoint/2010/main" val="1022256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D7350-8FC6-DEA4-9248-E74B8B5AFB4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5B64F3-B124-4CA1-8EB0-0B1891E5844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2725A623-FB91-7B8F-5E1D-591C90B36DD2}"/>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3" name="Picture 2">
            <a:extLst>
              <a:ext uri="{FF2B5EF4-FFF2-40B4-BE49-F238E27FC236}">
                <a16:creationId xmlns:a16="http://schemas.microsoft.com/office/drawing/2014/main" id="{F4B47619-4BB7-8D33-E154-49AAC6914F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77" y="458356"/>
            <a:ext cx="11550645" cy="5941288"/>
          </a:xfrm>
          <a:prstGeom prst="rect">
            <a:avLst/>
          </a:prstGeom>
        </p:spPr>
      </p:pic>
    </p:spTree>
    <p:extLst>
      <p:ext uri="{BB962C8B-B14F-4D97-AF65-F5344CB8AC3E}">
        <p14:creationId xmlns:p14="http://schemas.microsoft.com/office/powerpoint/2010/main" val="161853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FF01C-05A2-55F8-3678-B1E724E6420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FA8CA31-348B-0937-EAE9-AD5ECED3710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55D6A84-8EDE-004F-0FEE-A067595F5289}"/>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2" name="TextBox 1">
            <a:extLst>
              <a:ext uri="{FF2B5EF4-FFF2-40B4-BE49-F238E27FC236}">
                <a16:creationId xmlns:a16="http://schemas.microsoft.com/office/drawing/2014/main" id="{1999E8A7-6BDD-DCAC-E194-0D7784816A47}"/>
              </a:ext>
            </a:extLst>
          </p:cNvPr>
          <p:cNvSpPr txBox="1"/>
          <p:nvPr/>
        </p:nvSpPr>
        <p:spPr>
          <a:xfrm>
            <a:off x="849085" y="401216"/>
            <a:ext cx="10235682" cy="621708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IN" sz="4400" b="1" dirty="0">
                <a:ln w="9525">
                  <a:solidFill>
                    <a:schemeClr val="bg1"/>
                  </a:solidFill>
                  <a:prstDash val="solid"/>
                </a:ln>
                <a:solidFill>
                  <a:schemeClr val="tx1"/>
                </a:solidFill>
                <a:effectLst>
                  <a:outerShdw blurRad="12700" dist="38100" dir="2700000" algn="tl" rotWithShape="0">
                    <a:schemeClr val="bg1">
                      <a:lumMod val="50000"/>
                    </a:schemeClr>
                  </a:outerShdw>
                </a:effectLst>
              </a:rPr>
              <a:t>Technology Stack</a:t>
            </a:r>
          </a:p>
          <a:p>
            <a:pPr algn="ct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rPr>
              <a:t> :Frontend :</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HTML</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CSS</a:t>
            </a:r>
          </a:p>
          <a:p>
            <a:pPr algn="ct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rPr>
              <a:t>:Backend :</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Python</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Flask</a:t>
            </a:r>
          </a:p>
          <a:p>
            <a:pPr algn="ct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rPr>
              <a:t>: Libraries :</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Pandas</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NumPy</a:t>
            </a: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Matplotlib</a:t>
            </a:r>
          </a:p>
          <a:p>
            <a:pPr algn="ctr"/>
            <a:r>
              <a:rPr lang="en-IN" sz="28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Plotly</a:t>
            </a:r>
            <a:endPar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algn="ctr"/>
            <a:r>
              <a:rPr lang="en-IN"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Scikit-learn</a:t>
            </a:r>
          </a:p>
          <a:p>
            <a:endParaRPr lang="en-IN" dirty="0"/>
          </a:p>
        </p:txBody>
      </p:sp>
    </p:spTree>
    <p:extLst>
      <p:ext uri="{BB962C8B-B14F-4D97-AF65-F5344CB8AC3E}">
        <p14:creationId xmlns:p14="http://schemas.microsoft.com/office/powerpoint/2010/main" val="2694573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4C5239-AF8F-09BC-E005-C43E4364CA6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07C6228A-3EBC-5130-6448-DC82CF8F416D}"/>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7" name="Picture 6">
            <a:extLst>
              <a:ext uri="{FF2B5EF4-FFF2-40B4-BE49-F238E27FC236}">
                <a16:creationId xmlns:a16="http://schemas.microsoft.com/office/drawing/2014/main" id="{0E6B0265-B6FF-6D6E-F82C-3641D49F5353}"/>
              </a:ext>
            </a:extLst>
          </p:cNvPr>
          <p:cNvPicPr>
            <a:picLocks noChangeAspect="1"/>
          </p:cNvPicPr>
          <p:nvPr/>
        </p:nvPicPr>
        <p:blipFill>
          <a:blip r:embed="rId5">
            <a:extLst>
              <a:ext uri="{28A0092B-C50C-407E-A947-70E740481C1C}">
                <a14:useLocalDpi xmlns:a14="http://schemas.microsoft.com/office/drawing/2010/main" val="0"/>
              </a:ext>
            </a:extLst>
          </a:blip>
          <a:srcRect t="5244" b="5595"/>
          <a:stretch>
            <a:fillRect/>
          </a:stretch>
        </p:blipFill>
        <p:spPr>
          <a:xfrm>
            <a:off x="1670179" y="1660850"/>
            <a:ext cx="9190653" cy="4609321"/>
          </a:xfrm>
          <a:prstGeom prst="rect">
            <a:avLst/>
          </a:prstGeom>
        </p:spPr>
      </p:pic>
      <p:sp>
        <p:nvSpPr>
          <p:cNvPr id="8" name="Rectangle 7">
            <a:extLst>
              <a:ext uri="{FF2B5EF4-FFF2-40B4-BE49-F238E27FC236}">
                <a16:creationId xmlns:a16="http://schemas.microsoft.com/office/drawing/2014/main" id="{483810F2-A623-CA9C-70CD-3BD00E62C12D}"/>
              </a:ext>
            </a:extLst>
          </p:cNvPr>
          <p:cNvSpPr/>
          <p:nvPr/>
        </p:nvSpPr>
        <p:spPr>
          <a:xfrm>
            <a:off x="3666931" y="149691"/>
            <a:ext cx="4329404" cy="923330"/>
          </a:xfrm>
          <a:prstGeom prst="rect">
            <a:avLst/>
          </a:prstGeom>
          <a:noFill/>
        </p:spPr>
        <p:txBody>
          <a:bodyPr wrap="squar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 Login Page :</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3243489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4413-DCCF-7444-D925-0E731B261A3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825FC7D-A2AE-0273-ACA4-2BC117F4B8D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46F87286-6A6E-E4F3-B87D-159F585BA99E}"/>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16D4B895-0A66-C781-6326-F6D5BB8646D4}"/>
              </a:ext>
            </a:extLst>
          </p:cNvPr>
          <p:cNvSpPr txBox="1"/>
          <p:nvPr/>
        </p:nvSpPr>
        <p:spPr>
          <a:xfrm>
            <a:off x="4033933" y="197181"/>
            <a:ext cx="3638939" cy="707886"/>
          </a:xfrm>
          <a:prstGeom prst="rect">
            <a:avLst/>
          </a:prstGeom>
          <a:noFill/>
        </p:spPr>
        <p:txBody>
          <a:bodyPr wrap="square" rtlCol="0">
            <a:spAutoFit/>
          </a:bodyPr>
          <a:lstStyle/>
          <a:p>
            <a:r>
              <a:rPr lang="en-US" sz="4000" b="1" dirty="0">
                <a:ln w="22225">
                  <a:solidFill>
                    <a:schemeClr val="accent2"/>
                  </a:solidFill>
                  <a:prstDash val="solid"/>
                </a:ln>
                <a:solidFill>
                  <a:schemeClr val="accent2">
                    <a:lumMod val="40000"/>
                    <a:lumOff val="60000"/>
                  </a:schemeClr>
                </a:solidFill>
              </a:rPr>
              <a:t>: HOME PAGE :</a:t>
            </a:r>
            <a:endParaRPr lang="en-IN" sz="4000" dirty="0"/>
          </a:p>
        </p:txBody>
      </p:sp>
      <p:pic>
        <p:nvPicPr>
          <p:cNvPr id="5" name="Picture 4">
            <a:extLst>
              <a:ext uri="{FF2B5EF4-FFF2-40B4-BE49-F238E27FC236}">
                <a16:creationId xmlns:a16="http://schemas.microsoft.com/office/drawing/2014/main" id="{C5254CDC-ECBE-20BC-B85D-5385C8505732}"/>
              </a:ext>
            </a:extLst>
          </p:cNvPr>
          <p:cNvPicPr>
            <a:picLocks noChangeAspect="1"/>
          </p:cNvPicPr>
          <p:nvPr/>
        </p:nvPicPr>
        <p:blipFill>
          <a:blip r:embed="rId5">
            <a:extLst>
              <a:ext uri="{28A0092B-C50C-407E-A947-70E740481C1C}">
                <a14:useLocalDpi xmlns:a14="http://schemas.microsoft.com/office/drawing/2010/main" val="0"/>
              </a:ext>
            </a:extLst>
          </a:blip>
          <a:srcRect t="8570" b="8299"/>
          <a:stretch>
            <a:fillRect/>
          </a:stretch>
        </p:blipFill>
        <p:spPr>
          <a:xfrm>
            <a:off x="808142" y="1408921"/>
            <a:ext cx="10575711" cy="4945225"/>
          </a:xfrm>
          <a:prstGeom prst="rect">
            <a:avLst/>
          </a:prstGeom>
        </p:spPr>
      </p:pic>
    </p:spTree>
    <p:extLst>
      <p:ext uri="{BB962C8B-B14F-4D97-AF65-F5344CB8AC3E}">
        <p14:creationId xmlns:p14="http://schemas.microsoft.com/office/powerpoint/2010/main" val="144866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9947A-6E02-B2DD-2DC8-D258619CB1E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2ABBE2F-372C-E57A-8F40-9162E599EA8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564D5DCD-F0F3-3E76-C58F-B1542BAD977B}"/>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14" name="TextBox 13">
            <a:extLst>
              <a:ext uri="{FF2B5EF4-FFF2-40B4-BE49-F238E27FC236}">
                <a16:creationId xmlns:a16="http://schemas.microsoft.com/office/drawing/2014/main" id="{F2DA8B7B-CB3B-8A1D-F764-D4C71CBA671E}"/>
              </a:ext>
            </a:extLst>
          </p:cNvPr>
          <p:cNvSpPr txBox="1"/>
          <p:nvPr/>
        </p:nvSpPr>
        <p:spPr>
          <a:xfrm>
            <a:off x="3744685" y="338621"/>
            <a:ext cx="4702630" cy="646331"/>
          </a:xfrm>
          <a:prstGeom prst="rect">
            <a:avLst/>
          </a:prstGeom>
          <a:noFill/>
        </p:spPr>
        <p:txBody>
          <a:bodyPr wrap="square" rtlCol="0">
            <a:spAutoFit/>
          </a:bodyPr>
          <a:lstStyle/>
          <a:p>
            <a:r>
              <a:rPr lang="en-US" sz="3600" b="1" dirty="0">
                <a:ln w="22225">
                  <a:solidFill>
                    <a:schemeClr val="accent2"/>
                  </a:solidFill>
                  <a:prstDash val="solid"/>
                </a:ln>
                <a:solidFill>
                  <a:schemeClr val="accent2">
                    <a:lumMod val="40000"/>
                    <a:lumOff val="60000"/>
                  </a:schemeClr>
                </a:solidFill>
              </a:rPr>
              <a:t>: Over View Pages  :</a:t>
            </a:r>
            <a:endParaRPr lang="en-IN" b="1" dirty="0">
              <a:ln w="22225">
                <a:solidFill>
                  <a:schemeClr val="accent2"/>
                </a:solidFill>
                <a:prstDash val="solid"/>
              </a:ln>
              <a:solidFill>
                <a:schemeClr val="accent2">
                  <a:lumMod val="40000"/>
                  <a:lumOff val="60000"/>
                </a:schemeClr>
              </a:solidFill>
            </a:endParaRPr>
          </a:p>
        </p:txBody>
      </p:sp>
      <p:pic>
        <p:nvPicPr>
          <p:cNvPr id="3" name="Picture 2">
            <a:extLst>
              <a:ext uri="{FF2B5EF4-FFF2-40B4-BE49-F238E27FC236}">
                <a16:creationId xmlns:a16="http://schemas.microsoft.com/office/drawing/2014/main" id="{CA1F661A-466E-30C9-B20A-2EA0EABA7A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506" y="1471403"/>
            <a:ext cx="10328988" cy="5060026"/>
          </a:xfrm>
          <a:prstGeom prst="rect">
            <a:avLst/>
          </a:prstGeom>
        </p:spPr>
      </p:pic>
    </p:spTree>
    <p:extLst>
      <p:ext uri="{BB962C8B-B14F-4D97-AF65-F5344CB8AC3E}">
        <p14:creationId xmlns:p14="http://schemas.microsoft.com/office/powerpoint/2010/main" val="2623849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E3E8-EC70-47EE-F3A6-CF6516E2B34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B50F736-4495-BE26-B0A3-D53937A5232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A67D63E-1799-8E31-3B88-EA23CB932426}"/>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2F470AFD-99B3-8B4C-6934-D8E4A1E6A61D}"/>
              </a:ext>
            </a:extLst>
          </p:cNvPr>
          <p:cNvSpPr txBox="1"/>
          <p:nvPr/>
        </p:nvSpPr>
        <p:spPr>
          <a:xfrm>
            <a:off x="4040155" y="238353"/>
            <a:ext cx="4111690" cy="646331"/>
          </a:xfrm>
          <a:prstGeom prst="rect">
            <a:avLst/>
          </a:prstGeom>
          <a:noFill/>
        </p:spPr>
        <p:txBody>
          <a:bodyPr wrap="square" rtlCol="0">
            <a:spAutoFit/>
          </a:bodyPr>
          <a:lstStyle/>
          <a:p>
            <a:r>
              <a:rPr lang="en-US" sz="3600" b="1" dirty="0">
                <a:ln w="22225">
                  <a:solidFill>
                    <a:schemeClr val="accent2"/>
                  </a:solidFill>
                  <a:prstDash val="solid"/>
                </a:ln>
                <a:solidFill>
                  <a:schemeClr val="accent2">
                    <a:lumMod val="40000"/>
                    <a:lumOff val="60000"/>
                  </a:schemeClr>
                </a:solidFill>
              </a:rPr>
              <a:t>:</a:t>
            </a:r>
            <a:r>
              <a:rPr lang="en-US" sz="3600" dirty="0"/>
              <a:t> </a:t>
            </a:r>
            <a:r>
              <a:rPr lang="en-US" sz="3600" b="1" dirty="0">
                <a:ln w="22225">
                  <a:solidFill>
                    <a:schemeClr val="accent2"/>
                  </a:solidFill>
                  <a:prstDash val="solid"/>
                </a:ln>
                <a:solidFill>
                  <a:schemeClr val="accent2">
                    <a:lumMod val="40000"/>
                    <a:lumOff val="60000"/>
                  </a:schemeClr>
                </a:solidFill>
              </a:rPr>
              <a:t>Analysis Page :</a:t>
            </a:r>
            <a:endParaRPr lang="en-IN" sz="3600" dirty="0"/>
          </a:p>
        </p:txBody>
      </p:sp>
      <p:pic>
        <p:nvPicPr>
          <p:cNvPr id="5" name="Picture 4">
            <a:extLst>
              <a:ext uri="{FF2B5EF4-FFF2-40B4-BE49-F238E27FC236}">
                <a16:creationId xmlns:a16="http://schemas.microsoft.com/office/drawing/2014/main" id="{969F4911-3552-B6E6-7CEB-B7E2F2D24713}"/>
              </a:ext>
            </a:extLst>
          </p:cNvPr>
          <p:cNvPicPr>
            <a:picLocks noChangeAspect="1"/>
          </p:cNvPicPr>
          <p:nvPr/>
        </p:nvPicPr>
        <p:blipFill>
          <a:blip r:embed="rId5">
            <a:extLst>
              <a:ext uri="{28A0092B-C50C-407E-A947-70E740481C1C}">
                <a14:useLocalDpi xmlns:a14="http://schemas.microsoft.com/office/drawing/2010/main" val="0"/>
              </a:ext>
            </a:extLst>
          </a:blip>
          <a:srcRect t="5152" b="5163"/>
          <a:stretch>
            <a:fillRect/>
          </a:stretch>
        </p:blipFill>
        <p:spPr>
          <a:xfrm>
            <a:off x="1110341" y="1033974"/>
            <a:ext cx="9601201" cy="5189544"/>
          </a:xfrm>
          <a:prstGeom prst="rect">
            <a:avLst/>
          </a:prstGeom>
        </p:spPr>
      </p:pic>
    </p:spTree>
    <p:extLst>
      <p:ext uri="{BB962C8B-B14F-4D97-AF65-F5344CB8AC3E}">
        <p14:creationId xmlns:p14="http://schemas.microsoft.com/office/powerpoint/2010/main" val="3003543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C422-210E-3C21-5DD9-03EDB403F7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C4865E5-99A7-9573-2D00-5B77F8C5CC3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0"/>
            <a:ext cx="12192000" cy="6858000"/>
          </a:xfrm>
          <a:prstGeom prst="rect">
            <a:avLst/>
          </a:prstGeom>
        </p:spPr>
      </p:pic>
      <p:sp>
        <p:nvSpPr>
          <p:cNvPr id="8" name="TextBox 7">
            <a:extLst>
              <a:ext uri="{FF2B5EF4-FFF2-40B4-BE49-F238E27FC236}">
                <a16:creationId xmlns:a16="http://schemas.microsoft.com/office/drawing/2014/main" id="{8D818AFB-A393-2DB5-83C4-17BAFD3BBF43}"/>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BE516124-D19D-BD64-A906-D3BB2A7A5F07}"/>
              </a:ext>
            </a:extLst>
          </p:cNvPr>
          <p:cNvSpPr txBox="1"/>
          <p:nvPr/>
        </p:nvSpPr>
        <p:spPr>
          <a:xfrm>
            <a:off x="4113245" y="158434"/>
            <a:ext cx="3965508" cy="646331"/>
          </a:xfrm>
          <a:prstGeom prst="rect">
            <a:avLst/>
          </a:prstGeom>
          <a:noFill/>
        </p:spPr>
        <p:txBody>
          <a:bodyPr wrap="square" rtlCol="0">
            <a:spAutoFit/>
          </a:bodyPr>
          <a:lstStyle/>
          <a:p>
            <a:r>
              <a:rPr lang="en-US" sz="3600" b="1" dirty="0">
                <a:ln w="22225">
                  <a:solidFill>
                    <a:schemeClr val="accent2"/>
                  </a:solidFill>
                  <a:prstDash val="solid"/>
                </a:ln>
                <a:solidFill>
                  <a:schemeClr val="accent2">
                    <a:lumMod val="40000"/>
                    <a:lumOff val="60000"/>
                  </a:schemeClr>
                </a:solidFill>
              </a:rPr>
              <a:t> : After</a:t>
            </a:r>
            <a:r>
              <a:rPr lang="en-US" sz="3600" dirty="0"/>
              <a:t> </a:t>
            </a:r>
            <a:r>
              <a:rPr lang="en-US" sz="3600" b="1" dirty="0">
                <a:ln w="22225">
                  <a:solidFill>
                    <a:schemeClr val="accent2"/>
                  </a:solidFill>
                  <a:prstDash val="solid"/>
                </a:ln>
                <a:solidFill>
                  <a:schemeClr val="accent2">
                    <a:lumMod val="40000"/>
                    <a:lumOff val="60000"/>
                  </a:schemeClr>
                </a:solidFill>
              </a:rPr>
              <a:t>Analysis :</a:t>
            </a:r>
            <a:endParaRPr lang="en-IN" sz="3600" dirty="0"/>
          </a:p>
        </p:txBody>
      </p:sp>
      <p:pic>
        <p:nvPicPr>
          <p:cNvPr id="9" name="Picture 8">
            <a:extLst>
              <a:ext uri="{FF2B5EF4-FFF2-40B4-BE49-F238E27FC236}">
                <a16:creationId xmlns:a16="http://schemas.microsoft.com/office/drawing/2014/main" id="{72A7EB3B-8A90-A3C2-FF2A-93D18F4CCA19}"/>
              </a:ext>
            </a:extLst>
          </p:cNvPr>
          <p:cNvPicPr>
            <a:picLocks noChangeAspect="1"/>
          </p:cNvPicPr>
          <p:nvPr/>
        </p:nvPicPr>
        <p:blipFill>
          <a:blip r:embed="rId5">
            <a:extLst>
              <a:ext uri="{28A0092B-C50C-407E-A947-70E740481C1C}">
                <a14:useLocalDpi xmlns:a14="http://schemas.microsoft.com/office/drawing/2010/main" val="0"/>
              </a:ext>
            </a:extLst>
          </a:blip>
          <a:srcRect t="4464" b="7661"/>
          <a:stretch>
            <a:fillRect/>
          </a:stretch>
        </p:blipFill>
        <p:spPr>
          <a:xfrm>
            <a:off x="839755" y="1105677"/>
            <a:ext cx="10179698" cy="5257801"/>
          </a:xfrm>
          <a:prstGeom prst="rect">
            <a:avLst/>
          </a:prstGeom>
        </p:spPr>
      </p:pic>
    </p:spTree>
    <p:extLst>
      <p:ext uri="{BB962C8B-B14F-4D97-AF65-F5344CB8AC3E}">
        <p14:creationId xmlns:p14="http://schemas.microsoft.com/office/powerpoint/2010/main" val="427102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AC06-FBC8-6358-5A28-4140A6E7F7A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772F244-9073-E1A5-C56F-38473B85235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 y="0"/>
            <a:ext cx="12192000" cy="6858000"/>
          </a:xfrm>
          <a:prstGeom prst="rect">
            <a:avLst/>
          </a:prstGeom>
        </p:spPr>
      </p:pic>
      <p:sp>
        <p:nvSpPr>
          <p:cNvPr id="8" name="TextBox 7">
            <a:extLst>
              <a:ext uri="{FF2B5EF4-FFF2-40B4-BE49-F238E27FC236}">
                <a16:creationId xmlns:a16="http://schemas.microsoft.com/office/drawing/2014/main" id="{C3E28B0F-F49D-8FA8-A0F8-27101F4E74C0}"/>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06D2B345-192B-8A0B-F0BB-2DB40E765363}"/>
              </a:ext>
            </a:extLst>
          </p:cNvPr>
          <p:cNvSpPr txBox="1"/>
          <p:nvPr/>
        </p:nvSpPr>
        <p:spPr>
          <a:xfrm>
            <a:off x="3685591" y="211534"/>
            <a:ext cx="7688424" cy="707886"/>
          </a:xfrm>
          <a:prstGeom prst="rect">
            <a:avLst/>
          </a:prstGeom>
          <a:noFill/>
        </p:spPr>
        <p:txBody>
          <a:bodyPr wrap="square" rtlCol="0">
            <a:spAutoFit/>
          </a:bodyPr>
          <a:lstStyle/>
          <a:p>
            <a:r>
              <a:rPr lang="en-US" sz="4000" b="1" dirty="0">
                <a:ln w="22225">
                  <a:solidFill>
                    <a:schemeClr val="accent2"/>
                  </a:solidFill>
                  <a:prstDash val="solid"/>
                </a:ln>
                <a:solidFill>
                  <a:schemeClr val="accent2">
                    <a:lumMod val="40000"/>
                    <a:lumOff val="60000"/>
                  </a:schemeClr>
                </a:solidFill>
              </a:rPr>
              <a:t> :Data Valuation:</a:t>
            </a:r>
            <a:endParaRPr lang="en-IN" sz="4000" b="1" dirty="0">
              <a:ln w="22225">
                <a:solidFill>
                  <a:schemeClr val="accent2"/>
                </a:solidFill>
                <a:prstDash val="solid"/>
              </a:ln>
              <a:solidFill>
                <a:schemeClr val="accent2">
                  <a:lumMod val="40000"/>
                  <a:lumOff val="60000"/>
                </a:schemeClr>
              </a:solidFill>
            </a:endParaRPr>
          </a:p>
        </p:txBody>
      </p:sp>
      <p:pic>
        <p:nvPicPr>
          <p:cNvPr id="5" name="Picture 4">
            <a:extLst>
              <a:ext uri="{FF2B5EF4-FFF2-40B4-BE49-F238E27FC236}">
                <a16:creationId xmlns:a16="http://schemas.microsoft.com/office/drawing/2014/main" id="{7BF02882-4C1C-BEFB-9BDA-3896E0BAE583}"/>
              </a:ext>
            </a:extLst>
          </p:cNvPr>
          <p:cNvPicPr>
            <a:picLocks noChangeAspect="1"/>
          </p:cNvPicPr>
          <p:nvPr/>
        </p:nvPicPr>
        <p:blipFill>
          <a:blip r:embed="rId5">
            <a:extLst>
              <a:ext uri="{28A0092B-C50C-407E-A947-70E740481C1C}">
                <a14:useLocalDpi xmlns:a14="http://schemas.microsoft.com/office/drawing/2010/main" val="0"/>
              </a:ext>
            </a:extLst>
          </a:blip>
          <a:srcRect t="4626" b="4626"/>
          <a:stretch>
            <a:fillRect/>
          </a:stretch>
        </p:blipFill>
        <p:spPr>
          <a:xfrm>
            <a:off x="1093237" y="1433496"/>
            <a:ext cx="9999306" cy="5104238"/>
          </a:xfrm>
          <a:prstGeom prst="rect">
            <a:avLst/>
          </a:prstGeom>
        </p:spPr>
      </p:pic>
    </p:spTree>
    <p:extLst>
      <p:ext uri="{BB962C8B-B14F-4D97-AF65-F5344CB8AC3E}">
        <p14:creationId xmlns:p14="http://schemas.microsoft.com/office/powerpoint/2010/main" val="2701502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EB98-C914-8F25-4507-2F571090021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E0B47E0-6574-E7E2-ED5D-83992AEEDC2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 y="0"/>
            <a:ext cx="12192000" cy="6858000"/>
          </a:xfrm>
          <a:prstGeom prst="rect">
            <a:avLst/>
          </a:prstGeom>
        </p:spPr>
      </p:pic>
      <p:sp>
        <p:nvSpPr>
          <p:cNvPr id="8" name="TextBox 7">
            <a:extLst>
              <a:ext uri="{FF2B5EF4-FFF2-40B4-BE49-F238E27FC236}">
                <a16:creationId xmlns:a16="http://schemas.microsoft.com/office/drawing/2014/main" id="{385F23C0-4545-FBA2-28F1-F57F7F7C144F}"/>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515D072A-FC0D-C896-0B3A-E4D6A4903AB7}"/>
              </a:ext>
            </a:extLst>
          </p:cNvPr>
          <p:cNvSpPr txBox="1"/>
          <p:nvPr/>
        </p:nvSpPr>
        <p:spPr>
          <a:xfrm>
            <a:off x="3685591" y="211534"/>
            <a:ext cx="7688424" cy="707886"/>
          </a:xfrm>
          <a:prstGeom prst="rect">
            <a:avLst/>
          </a:prstGeom>
          <a:noFill/>
        </p:spPr>
        <p:txBody>
          <a:bodyPr wrap="square" rtlCol="0">
            <a:spAutoFit/>
          </a:bodyPr>
          <a:lstStyle/>
          <a:p>
            <a:r>
              <a:rPr lang="en-US" sz="4000" b="1" dirty="0">
                <a:ln w="22225">
                  <a:solidFill>
                    <a:schemeClr val="accent2"/>
                  </a:solidFill>
                  <a:prstDash val="solid"/>
                </a:ln>
                <a:solidFill>
                  <a:schemeClr val="accent2">
                    <a:lumMod val="40000"/>
                    <a:lumOff val="60000"/>
                  </a:schemeClr>
                </a:solidFill>
              </a:rPr>
              <a:t> :Data Valuation:</a:t>
            </a:r>
            <a:endParaRPr lang="en-IN" sz="4000" b="1" dirty="0">
              <a:ln w="22225">
                <a:solidFill>
                  <a:schemeClr val="accent2"/>
                </a:solidFill>
                <a:prstDash val="solid"/>
              </a:ln>
              <a:solidFill>
                <a:schemeClr val="accent2">
                  <a:lumMod val="40000"/>
                  <a:lumOff val="60000"/>
                </a:schemeClr>
              </a:solidFill>
            </a:endParaRPr>
          </a:p>
        </p:txBody>
      </p:sp>
      <p:pic>
        <p:nvPicPr>
          <p:cNvPr id="3" name="Picture 2">
            <a:extLst>
              <a:ext uri="{FF2B5EF4-FFF2-40B4-BE49-F238E27FC236}">
                <a16:creationId xmlns:a16="http://schemas.microsoft.com/office/drawing/2014/main" id="{8B862260-55E2-88AB-AD61-5FF4EAC29784}"/>
              </a:ext>
            </a:extLst>
          </p:cNvPr>
          <p:cNvPicPr>
            <a:picLocks noChangeAspect="1"/>
          </p:cNvPicPr>
          <p:nvPr/>
        </p:nvPicPr>
        <p:blipFill>
          <a:blip r:embed="rId5">
            <a:extLst>
              <a:ext uri="{28A0092B-C50C-407E-A947-70E740481C1C}">
                <a14:useLocalDpi xmlns:a14="http://schemas.microsoft.com/office/drawing/2010/main" val="0"/>
              </a:ext>
            </a:extLst>
          </a:blip>
          <a:srcRect t="4762" b="11701"/>
          <a:stretch>
            <a:fillRect/>
          </a:stretch>
        </p:blipFill>
        <p:spPr>
          <a:xfrm>
            <a:off x="332792" y="1526713"/>
            <a:ext cx="10282335" cy="4831649"/>
          </a:xfrm>
          <a:prstGeom prst="rect">
            <a:avLst/>
          </a:prstGeom>
        </p:spPr>
      </p:pic>
      <p:sp>
        <p:nvSpPr>
          <p:cNvPr id="6" name="TextBox 5">
            <a:extLst>
              <a:ext uri="{FF2B5EF4-FFF2-40B4-BE49-F238E27FC236}">
                <a16:creationId xmlns:a16="http://schemas.microsoft.com/office/drawing/2014/main" id="{7DA86CD9-0CB7-E98B-4AA2-BDFA6231BD42}"/>
              </a:ext>
            </a:extLst>
          </p:cNvPr>
          <p:cNvSpPr txBox="1"/>
          <p:nvPr/>
        </p:nvSpPr>
        <p:spPr>
          <a:xfrm>
            <a:off x="9486123" y="2358813"/>
            <a:ext cx="2258008" cy="2308324"/>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ln w="0"/>
                <a:effectLst/>
              </a:rPr>
              <a:t>This is the chatbot where we can ask every query related the csv file or the excel file. (</a:t>
            </a:r>
            <a:r>
              <a:rPr lang="en-US" dirty="0" err="1">
                <a:ln w="0"/>
                <a:effectLst/>
              </a:rPr>
              <a:t>eg.</a:t>
            </a:r>
            <a:r>
              <a:rPr lang="en-US" dirty="0">
                <a:ln w="0"/>
                <a:effectLst/>
              </a:rPr>
              <a:t> Rows , show 5 first rows, min, max, medium </a:t>
            </a:r>
            <a:r>
              <a:rPr lang="en-US" dirty="0" err="1">
                <a:ln w="0"/>
                <a:effectLst/>
              </a:rPr>
              <a:t>etc</a:t>
            </a:r>
            <a:r>
              <a:rPr lang="en-US" dirty="0">
                <a:ln w="0"/>
                <a:effectLst/>
              </a:rPr>
              <a:t>) </a:t>
            </a:r>
            <a:endParaRPr lang="en-IN" dirty="0">
              <a:ln w="0"/>
              <a:effectLst/>
            </a:endParaRPr>
          </a:p>
        </p:txBody>
      </p:sp>
      <p:sp>
        <p:nvSpPr>
          <p:cNvPr id="9" name="Arrow: Curved Down 8">
            <a:extLst>
              <a:ext uri="{FF2B5EF4-FFF2-40B4-BE49-F238E27FC236}">
                <a16:creationId xmlns:a16="http://schemas.microsoft.com/office/drawing/2014/main" id="{35CB761F-F624-2288-96D0-F5D595337AD1}"/>
              </a:ext>
            </a:extLst>
          </p:cNvPr>
          <p:cNvSpPr/>
          <p:nvPr/>
        </p:nvSpPr>
        <p:spPr>
          <a:xfrm rot="1672558">
            <a:off x="9526056" y="1107927"/>
            <a:ext cx="2575248" cy="1027075"/>
          </a:xfrm>
          <a:prstGeom prst="curvedDownArrow">
            <a:avLst>
              <a:gd name="adj1" fmla="val 28109"/>
              <a:gd name="adj2" fmla="val 57948"/>
              <a:gd name="adj3" fmla="val 34298"/>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504919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3926B5-70B1-39FA-6F91-426EC4BA450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 y="0"/>
            <a:ext cx="12192000" cy="6858000"/>
          </a:xfrm>
          <a:prstGeom prst="rect">
            <a:avLst/>
          </a:prstGeom>
        </p:spPr>
      </p:pic>
      <p:sp>
        <p:nvSpPr>
          <p:cNvPr id="3" name="TextBox 2">
            <a:extLst>
              <a:ext uri="{FF2B5EF4-FFF2-40B4-BE49-F238E27FC236}">
                <a16:creationId xmlns:a16="http://schemas.microsoft.com/office/drawing/2014/main" id="{03E189DE-19C8-44FD-515D-F350F0C7FDDD}"/>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5" name="Picture 4">
            <a:extLst>
              <a:ext uri="{FF2B5EF4-FFF2-40B4-BE49-F238E27FC236}">
                <a16:creationId xmlns:a16="http://schemas.microsoft.com/office/drawing/2014/main" id="{1E72F335-8C57-1497-181A-CC88BC435C78}"/>
              </a:ext>
            </a:extLst>
          </p:cNvPr>
          <p:cNvPicPr>
            <a:picLocks noChangeAspect="1"/>
          </p:cNvPicPr>
          <p:nvPr/>
        </p:nvPicPr>
        <p:blipFill>
          <a:blip r:embed="rId5">
            <a:extLst>
              <a:ext uri="{28A0092B-C50C-407E-A947-70E740481C1C}">
                <a14:useLocalDpi xmlns:a14="http://schemas.microsoft.com/office/drawing/2010/main" val="0"/>
              </a:ext>
            </a:extLst>
          </a:blip>
          <a:srcRect l="918" t="4489" r="2042" b="5579"/>
          <a:stretch>
            <a:fillRect/>
          </a:stretch>
        </p:blipFill>
        <p:spPr>
          <a:xfrm>
            <a:off x="757334" y="1142688"/>
            <a:ext cx="10677331" cy="5566022"/>
          </a:xfrm>
          <a:prstGeom prst="rect">
            <a:avLst/>
          </a:prstGeom>
        </p:spPr>
      </p:pic>
      <p:sp>
        <p:nvSpPr>
          <p:cNvPr id="6" name="Rectangle 5">
            <a:extLst>
              <a:ext uri="{FF2B5EF4-FFF2-40B4-BE49-F238E27FC236}">
                <a16:creationId xmlns:a16="http://schemas.microsoft.com/office/drawing/2014/main" id="{EFD14413-6E4D-04AB-07CC-136C5D360152}"/>
              </a:ext>
            </a:extLst>
          </p:cNvPr>
          <p:cNvSpPr/>
          <p:nvPr/>
        </p:nvSpPr>
        <p:spPr>
          <a:xfrm>
            <a:off x="3631075" y="109679"/>
            <a:ext cx="4034118"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 Profile Edit :</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98362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0F8D41-3D9A-25F7-CF89-8DD06E2B134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 y="0"/>
            <a:ext cx="12192000" cy="6858000"/>
          </a:xfrm>
          <a:prstGeom prst="rect">
            <a:avLst/>
          </a:prstGeom>
        </p:spPr>
      </p:pic>
      <p:sp>
        <p:nvSpPr>
          <p:cNvPr id="3" name="TextBox 2">
            <a:extLst>
              <a:ext uri="{FF2B5EF4-FFF2-40B4-BE49-F238E27FC236}">
                <a16:creationId xmlns:a16="http://schemas.microsoft.com/office/drawing/2014/main" id="{3E2845DC-2DF0-2E52-EB61-799CC2AC80B4}"/>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5" name="Picture 4">
            <a:extLst>
              <a:ext uri="{FF2B5EF4-FFF2-40B4-BE49-F238E27FC236}">
                <a16:creationId xmlns:a16="http://schemas.microsoft.com/office/drawing/2014/main" id="{AD7795A8-C70C-E563-4C58-17F0E4CBD10B}"/>
              </a:ext>
            </a:extLst>
          </p:cNvPr>
          <p:cNvPicPr>
            <a:picLocks noChangeAspect="1"/>
          </p:cNvPicPr>
          <p:nvPr/>
        </p:nvPicPr>
        <p:blipFill>
          <a:blip r:embed="rId5">
            <a:extLst>
              <a:ext uri="{28A0092B-C50C-407E-A947-70E740481C1C}">
                <a14:useLocalDpi xmlns:a14="http://schemas.microsoft.com/office/drawing/2010/main" val="0"/>
              </a:ext>
            </a:extLst>
          </a:blip>
          <a:srcRect t="7891" b="4898"/>
          <a:stretch>
            <a:fillRect/>
          </a:stretch>
        </p:blipFill>
        <p:spPr>
          <a:xfrm>
            <a:off x="1156997" y="1640766"/>
            <a:ext cx="9570098" cy="4694719"/>
          </a:xfrm>
          <a:prstGeom prst="rect">
            <a:avLst/>
          </a:prstGeom>
        </p:spPr>
      </p:pic>
      <p:sp>
        <p:nvSpPr>
          <p:cNvPr id="6" name="Rectangle 5">
            <a:extLst>
              <a:ext uri="{FF2B5EF4-FFF2-40B4-BE49-F238E27FC236}">
                <a16:creationId xmlns:a16="http://schemas.microsoft.com/office/drawing/2014/main" id="{9259BF70-9A6C-159C-4201-EC7B4661BCFC}"/>
              </a:ext>
            </a:extLst>
          </p:cNvPr>
          <p:cNvSpPr/>
          <p:nvPr/>
        </p:nvSpPr>
        <p:spPr>
          <a:xfrm>
            <a:off x="3194641" y="522515"/>
            <a:ext cx="4962962"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 : History Check :</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655439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1161-F384-1B77-720F-10B4975494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EC4C034-374C-C9EE-BF26-22C891A666F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B71185B-35FD-32CF-CE00-25F4F02797A4}"/>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4" name="TextBox 3">
            <a:extLst>
              <a:ext uri="{FF2B5EF4-FFF2-40B4-BE49-F238E27FC236}">
                <a16:creationId xmlns:a16="http://schemas.microsoft.com/office/drawing/2014/main" id="{487D41BA-8BCB-559A-F8B6-85CA3FFF79E7}"/>
              </a:ext>
            </a:extLst>
          </p:cNvPr>
          <p:cNvSpPr txBox="1"/>
          <p:nvPr/>
        </p:nvSpPr>
        <p:spPr>
          <a:xfrm>
            <a:off x="690464" y="336077"/>
            <a:ext cx="6139543" cy="646331"/>
          </a:xfrm>
          <a:prstGeom prst="rect">
            <a:avLst/>
          </a:prstGeom>
          <a:noFill/>
        </p:spPr>
        <p:txBody>
          <a:bodyPr wrap="square" rtlCol="0">
            <a:spAutoFit/>
          </a:bodyPr>
          <a:lstStyle/>
          <a:p>
            <a:r>
              <a:rPr lang="en-US" sz="3600" dirty="0">
                <a:solidFill>
                  <a:schemeClr val="bg1"/>
                </a:solidFill>
                <a:latin typeface="Arial Black" panose="020B0A04020102020204" pitchFamily="34" charset="0"/>
              </a:rPr>
              <a:t>DFD DIAGRAM :</a:t>
            </a:r>
            <a:endParaRPr lang="en-IN"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F0DA7BBA-E3AE-CEEC-3FF9-28F7DDC711D9}"/>
              </a:ext>
            </a:extLst>
          </p:cNvPr>
          <p:cNvSpPr txBox="1"/>
          <p:nvPr/>
        </p:nvSpPr>
        <p:spPr>
          <a:xfrm>
            <a:off x="7825355" y="1038288"/>
            <a:ext cx="3862874" cy="5324535"/>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IN" sz="2000" b="1" dirty="0">
                <a:ln w="0"/>
                <a:solidFill>
                  <a:schemeClr val="bg1"/>
                </a:solidFill>
                <a:effectLst>
                  <a:outerShdw blurRad="38100" dist="19050" dir="2700000" algn="tl" rotWithShape="0">
                    <a:schemeClr val="dk1">
                      <a:alpha val="40000"/>
                    </a:schemeClr>
                  </a:outerShdw>
                </a:effectLst>
              </a:rPr>
              <a:t>The proposed system, </a:t>
            </a:r>
            <a:r>
              <a:rPr lang="en-IN" sz="2000" b="1" dirty="0" err="1">
                <a:ln w="0"/>
                <a:solidFill>
                  <a:schemeClr val="bg1"/>
                </a:solidFill>
                <a:effectLst>
                  <a:outerShdw blurRad="38100" dist="19050" dir="2700000" algn="tl" rotWithShape="0">
                    <a:schemeClr val="dk1">
                      <a:alpha val="40000"/>
                    </a:schemeClr>
                  </a:outerShdw>
                </a:effectLst>
              </a:rPr>
              <a:t>DataSense</a:t>
            </a:r>
            <a:r>
              <a:rPr lang="en-IN" sz="2000" b="1" dirty="0">
                <a:ln w="0"/>
                <a:solidFill>
                  <a:schemeClr val="bg1"/>
                </a:solidFill>
                <a:effectLst>
                  <a:outerShdw blurRad="38100" dist="19050" dir="2700000" algn="tl" rotWithShape="0">
                    <a:schemeClr val="dk1">
                      <a:alpha val="40000"/>
                    </a:schemeClr>
                  </a:outerShdw>
                </a:effectLst>
              </a:rPr>
              <a:t> AI, is designed to provide an intelligent, automated, and user-friendly platform for data analysis. The solution integrates artificial intelligence techniques with modern data processing tools to transform raw datasets into meaningful insights. The system follows a modular architecture where each component is responsible for a specific task such as data input, preprocessing, analysis, visualization, and result presentation. This approach ensures scalability, maintainability, and efficient performance</a:t>
            </a:r>
          </a:p>
        </p:txBody>
      </p:sp>
      <p:pic>
        <p:nvPicPr>
          <p:cNvPr id="6" name="Picture 5">
            <a:extLst>
              <a:ext uri="{FF2B5EF4-FFF2-40B4-BE49-F238E27FC236}">
                <a16:creationId xmlns:a16="http://schemas.microsoft.com/office/drawing/2014/main" id="{C4113B73-3273-1CEB-41C4-1E0C5DE1BD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351" y="1318485"/>
            <a:ext cx="7350654" cy="4633966"/>
          </a:xfrm>
          <a:prstGeom prst="rect">
            <a:avLst/>
          </a:prstGeom>
        </p:spPr>
      </p:pic>
    </p:spTree>
    <p:extLst>
      <p:ext uri="{BB962C8B-B14F-4D97-AF65-F5344CB8AC3E}">
        <p14:creationId xmlns:p14="http://schemas.microsoft.com/office/powerpoint/2010/main" val="3016437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15810-0B3B-7F9F-ADE6-3A778BEEF13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DEC3D5A-C143-373B-3223-D91AD3BE634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A40F6838-6D57-1254-6956-4B0748F15F80}"/>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2" name="Picture 1">
            <a:extLst>
              <a:ext uri="{FF2B5EF4-FFF2-40B4-BE49-F238E27FC236}">
                <a16:creationId xmlns:a16="http://schemas.microsoft.com/office/drawing/2014/main" id="{EBE671AC-7035-3D2C-FE72-60ECB8B95C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2657"/>
            <a:ext cx="5962650" cy="3975100"/>
          </a:xfrm>
          <a:prstGeom prst="rect">
            <a:avLst/>
          </a:prstGeom>
        </p:spPr>
      </p:pic>
      <p:pic>
        <p:nvPicPr>
          <p:cNvPr id="3" name="Picture 2">
            <a:extLst>
              <a:ext uri="{FF2B5EF4-FFF2-40B4-BE49-F238E27FC236}">
                <a16:creationId xmlns:a16="http://schemas.microsoft.com/office/drawing/2014/main" id="{7471BD2D-EC61-D606-E405-5A02E8A4DBE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62650" y="2705331"/>
            <a:ext cx="6229350" cy="4152670"/>
          </a:xfrm>
          <a:prstGeom prst="rect">
            <a:avLst/>
          </a:prstGeom>
        </p:spPr>
      </p:pic>
      <p:sp>
        <p:nvSpPr>
          <p:cNvPr id="4" name="TextBox 3">
            <a:extLst>
              <a:ext uri="{FF2B5EF4-FFF2-40B4-BE49-F238E27FC236}">
                <a16:creationId xmlns:a16="http://schemas.microsoft.com/office/drawing/2014/main" id="{EB93811D-6E39-B1A5-CD0A-EA18680F2D44}"/>
              </a:ext>
            </a:extLst>
          </p:cNvPr>
          <p:cNvSpPr txBox="1"/>
          <p:nvPr/>
        </p:nvSpPr>
        <p:spPr>
          <a:xfrm>
            <a:off x="5962650" y="-90085"/>
            <a:ext cx="4599991" cy="646331"/>
          </a:xfrm>
          <a:prstGeom prst="rect">
            <a:avLst/>
          </a:prstGeom>
          <a:noFill/>
        </p:spPr>
        <p:txBody>
          <a:bodyPr wrap="square" rtlCol="0">
            <a:spAutoFit/>
          </a:bodyPr>
          <a:lstStyle/>
          <a:p>
            <a:r>
              <a:rPr lang="en-US" sz="3600" b="1" dirty="0">
                <a:solidFill>
                  <a:schemeClr val="bg1"/>
                </a:solidFill>
              </a:rPr>
              <a:t>1</a:t>
            </a:r>
            <a:r>
              <a:rPr lang="en-US" sz="3600" b="1" baseline="30000" dirty="0">
                <a:solidFill>
                  <a:schemeClr val="bg1"/>
                </a:solidFill>
              </a:rPr>
              <a:t>st</a:t>
            </a:r>
            <a:r>
              <a:rPr lang="en-US" sz="3600" b="1" dirty="0">
                <a:solidFill>
                  <a:schemeClr val="bg1"/>
                </a:solidFill>
              </a:rPr>
              <a:t> ER DIAGRAM</a:t>
            </a:r>
            <a:endParaRPr lang="en-IN" b="1" dirty="0">
              <a:solidFill>
                <a:schemeClr val="bg1"/>
              </a:solidFill>
            </a:endParaRPr>
          </a:p>
        </p:txBody>
      </p:sp>
      <p:sp>
        <p:nvSpPr>
          <p:cNvPr id="5" name="TextBox 4">
            <a:extLst>
              <a:ext uri="{FF2B5EF4-FFF2-40B4-BE49-F238E27FC236}">
                <a16:creationId xmlns:a16="http://schemas.microsoft.com/office/drawing/2014/main" id="{AFB597A3-35BF-2839-59AD-5B7C8BEE653D}"/>
              </a:ext>
            </a:extLst>
          </p:cNvPr>
          <p:cNvSpPr txBox="1"/>
          <p:nvPr/>
        </p:nvSpPr>
        <p:spPr>
          <a:xfrm>
            <a:off x="2286000" y="6182771"/>
            <a:ext cx="5253135" cy="707886"/>
          </a:xfrm>
          <a:prstGeom prst="rect">
            <a:avLst/>
          </a:prstGeom>
          <a:noFill/>
        </p:spPr>
        <p:txBody>
          <a:bodyPr wrap="square" rtlCol="0">
            <a:spAutoFit/>
          </a:bodyPr>
          <a:lstStyle/>
          <a:p>
            <a:r>
              <a:rPr lang="en-US" sz="4000" b="1" dirty="0">
                <a:solidFill>
                  <a:schemeClr val="bg1"/>
                </a:solidFill>
              </a:rPr>
              <a:t>2</a:t>
            </a:r>
            <a:r>
              <a:rPr lang="en-US" sz="4000" b="1" baseline="30000" dirty="0">
                <a:solidFill>
                  <a:schemeClr val="bg1"/>
                </a:solidFill>
              </a:rPr>
              <a:t>nd</a:t>
            </a:r>
            <a:r>
              <a:rPr lang="en-US" sz="4000" b="1" dirty="0">
                <a:solidFill>
                  <a:schemeClr val="bg1"/>
                </a:solidFill>
              </a:rPr>
              <a:t> ER DIAGRAM</a:t>
            </a:r>
            <a:endParaRPr lang="en-IN" b="1" dirty="0">
              <a:solidFill>
                <a:schemeClr val="bg1"/>
              </a:solidFill>
            </a:endParaRPr>
          </a:p>
        </p:txBody>
      </p:sp>
    </p:spTree>
    <p:extLst>
      <p:ext uri="{BB962C8B-B14F-4D97-AF65-F5344CB8AC3E}">
        <p14:creationId xmlns:p14="http://schemas.microsoft.com/office/powerpoint/2010/main" val="1779970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1913-7101-D66F-5DC1-1034BD2ECB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B59395F-896E-1E1E-7DC4-0BD6606DD9E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41CEF85E-DE84-EF00-8D05-6EF67BB0230A}"/>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2" name="Picture 1">
            <a:extLst>
              <a:ext uri="{FF2B5EF4-FFF2-40B4-BE49-F238E27FC236}">
                <a16:creationId xmlns:a16="http://schemas.microsoft.com/office/drawing/2014/main" id="{047F9CDF-E0B1-048A-977B-336552AEA61D}"/>
              </a:ext>
            </a:extLst>
          </p:cNvPr>
          <p:cNvPicPr>
            <a:picLocks noChangeAspect="1"/>
          </p:cNvPicPr>
          <p:nvPr/>
        </p:nvPicPr>
        <p:blipFill>
          <a:blip r:embed="rId5">
            <a:extLst>
              <a:ext uri="{28A0092B-C50C-407E-A947-70E740481C1C}">
                <a14:useLocalDpi xmlns:a14="http://schemas.microsoft.com/office/drawing/2010/main" val="0"/>
              </a:ext>
            </a:extLst>
          </a:blip>
          <a:srcRect l="14525" t="584" r="18543" b="13575"/>
          <a:stretch>
            <a:fillRect/>
          </a:stretch>
        </p:blipFill>
        <p:spPr>
          <a:xfrm>
            <a:off x="716576" y="431541"/>
            <a:ext cx="3181739" cy="6120882"/>
          </a:xfrm>
          <a:prstGeom prst="rect">
            <a:avLst/>
          </a:prstGeom>
        </p:spPr>
      </p:pic>
      <p:graphicFrame>
        <p:nvGraphicFramePr>
          <p:cNvPr id="5" name="Diagram 4">
            <a:extLst>
              <a:ext uri="{FF2B5EF4-FFF2-40B4-BE49-F238E27FC236}">
                <a16:creationId xmlns:a16="http://schemas.microsoft.com/office/drawing/2014/main" id="{B74FD973-79EF-B6EC-1EBC-E64D09276352}"/>
              </a:ext>
            </a:extLst>
          </p:cNvPr>
          <p:cNvGraphicFramePr/>
          <p:nvPr>
            <p:extLst>
              <p:ext uri="{D42A27DB-BD31-4B8C-83A1-F6EECF244321}">
                <p14:modId xmlns:p14="http://schemas.microsoft.com/office/powerpoint/2010/main" val="2092470992"/>
              </p:ext>
            </p:extLst>
          </p:nvPr>
        </p:nvGraphicFramePr>
        <p:xfrm>
          <a:off x="5215813" y="746449"/>
          <a:ext cx="6155094" cy="574299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6" name="Picture 5">
            <a:extLst>
              <a:ext uri="{FF2B5EF4-FFF2-40B4-BE49-F238E27FC236}">
                <a16:creationId xmlns:a16="http://schemas.microsoft.com/office/drawing/2014/main" id="{DFFFB4D2-8A4F-2AD8-A23B-A715E2B99498}"/>
              </a:ext>
            </a:extLst>
          </p:cNvPr>
          <p:cNvPicPr>
            <a:picLocks noChangeAspect="1"/>
          </p:cNvPicPr>
          <p:nvPr/>
        </p:nvPicPr>
        <p:blipFill>
          <a:blip r:embed="rId11">
            <a:extLst>
              <a:ext uri="{28A0092B-C50C-407E-A947-70E740481C1C}">
                <a14:useLocalDpi xmlns:a14="http://schemas.microsoft.com/office/drawing/2010/main" val="0"/>
              </a:ext>
            </a:extLst>
          </a:blip>
          <a:srcRect l="21240" t="2627" r="23247" b="15745"/>
          <a:stretch>
            <a:fillRect/>
          </a:stretch>
        </p:blipFill>
        <p:spPr>
          <a:xfrm>
            <a:off x="7629333" y="377890"/>
            <a:ext cx="3846091" cy="6022910"/>
          </a:xfrm>
          <a:prstGeom prst="rect">
            <a:avLst/>
          </a:prstGeom>
        </p:spPr>
      </p:pic>
    </p:spTree>
    <p:extLst>
      <p:ext uri="{BB962C8B-B14F-4D97-AF65-F5344CB8AC3E}">
        <p14:creationId xmlns:p14="http://schemas.microsoft.com/office/powerpoint/2010/main" val="2705858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BD336-8B07-F69D-1F75-E22D96C28A4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A2DA9FD-B664-6826-1F4A-C405A8E6A55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8857" y="93306"/>
            <a:ext cx="12192000" cy="6858000"/>
          </a:xfrm>
          <a:prstGeom prst="rect">
            <a:avLst/>
          </a:prstGeom>
        </p:spPr>
      </p:pic>
      <p:sp>
        <p:nvSpPr>
          <p:cNvPr id="8" name="TextBox 7">
            <a:extLst>
              <a:ext uri="{FF2B5EF4-FFF2-40B4-BE49-F238E27FC236}">
                <a16:creationId xmlns:a16="http://schemas.microsoft.com/office/drawing/2014/main" id="{56B2E24C-130B-286B-9FB9-D07815CD68FB}"/>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pic>
        <p:nvPicPr>
          <p:cNvPr id="2" name="Picture 1">
            <a:extLst>
              <a:ext uri="{FF2B5EF4-FFF2-40B4-BE49-F238E27FC236}">
                <a16:creationId xmlns:a16="http://schemas.microsoft.com/office/drawing/2014/main" id="{C8CB6D01-C2E8-756F-67E8-7755B19266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4809633" cy="6951306"/>
          </a:xfrm>
          <a:prstGeom prst="rect">
            <a:avLst/>
          </a:prstGeom>
        </p:spPr>
      </p:pic>
      <p:sp>
        <p:nvSpPr>
          <p:cNvPr id="3" name="TextBox 2">
            <a:extLst>
              <a:ext uri="{FF2B5EF4-FFF2-40B4-BE49-F238E27FC236}">
                <a16:creationId xmlns:a16="http://schemas.microsoft.com/office/drawing/2014/main" id="{FC608958-293E-97FA-B820-3D2BE858C2DD}"/>
              </a:ext>
            </a:extLst>
          </p:cNvPr>
          <p:cNvSpPr txBox="1"/>
          <p:nvPr/>
        </p:nvSpPr>
        <p:spPr>
          <a:xfrm>
            <a:off x="5067780" y="183692"/>
            <a:ext cx="7015363" cy="6678751"/>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IN" sz="2400" b="1" dirty="0">
                <a:highlight>
                  <a:srgbClr val="000080"/>
                </a:highlight>
              </a:rPr>
              <a:t>Future Goals (Market needs based) :</a:t>
            </a:r>
            <a:endParaRPr lang="en-IN" sz="2400" dirty="0">
              <a:highlight>
                <a:srgbClr val="000080"/>
              </a:highlight>
            </a:endParaRPr>
          </a:p>
          <a:p>
            <a:pPr lvl="0"/>
            <a:r>
              <a:rPr lang="en-IN" sz="2000" b="1" dirty="0"/>
              <a:t>Real-Time Decision Support: </a:t>
            </a:r>
            <a:r>
              <a:rPr lang="en-IN" dirty="0"/>
              <a:t>Develop the system to process </a:t>
            </a:r>
            <a:r>
              <a:rPr lang="en-IN" b="1" dirty="0"/>
              <a:t>live data streams</a:t>
            </a:r>
            <a:r>
              <a:rPr lang="en-IN" dirty="0"/>
              <a:t> and provide immediate insights for faster and more accurate decision-making.</a:t>
            </a:r>
          </a:p>
          <a:p>
            <a:pPr lvl="0"/>
            <a:r>
              <a:rPr lang="en-IN" sz="2000" b="1" dirty="0"/>
              <a:t>Advanced AI Integration</a:t>
            </a:r>
            <a:r>
              <a:rPr lang="en-IN" sz="2000" dirty="0"/>
              <a:t>: </a:t>
            </a:r>
            <a:r>
              <a:rPr lang="en-IN" dirty="0"/>
              <a:t>Implement </a:t>
            </a:r>
            <a:r>
              <a:rPr lang="en-IN" b="1" dirty="0"/>
              <a:t>deep learning and reinforcement learning models</a:t>
            </a:r>
            <a:r>
              <a:rPr lang="en-IN" dirty="0"/>
              <a:t> to enhance predictive capabilities and handle more complex datasets.</a:t>
            </a:r>
          </a:p>
          <a:p>
            <a:pPr lvl="0"/>
            <a:endParaRPr lang="en-IN" dirty="0"/>
          </a:p>
          <a:p>
            <a:pPr lvl="0"/>
            <a:endParaRPr lang="en-IN" dirty="0"/>
          </a:p>
          <a:p>
            <a:pPr lvl="0"/>
            <a:r>
              <a:rPr lang="en-IN" sz="2000" b="1" dirty="0"/>
              <a:t>Scalable Architecture</a:t>
            </a:r>
            <a:r>
              <a:rPr lang="en-IN" sz="2000" dirty="0"/>
              <a:t>: </a:t>
            </a:r>
            <a:r>
              <a:rPr lang="en-IN" dirty="0"/>
              <a:t>Expand the platform using </a:t>
            </a:r>
            <a:r>
              <a:rPr lang="en-IN" b="1" dirty="0"/>
              <a:t>cloud computing and big  data frameworks</a:t>
            </a:r>
            <a:r>
              <a:rPr lang="en-IN" dirty="0"/>
              <a:t> to manage enterprise-level data efficiently.</a:t>
            </a:r>
          </a:p>
          <a:p>
            <a:pPr lvl="0"/>
            <a:endParaRPr lang="en-IN" dirty="0"/>
          </a:p>
          <a:p>
            <a:pPr lvl="0"/>
            <a:r>
              <a:rPr lang="en-IN" sz="2000" b="1" dirty="0"/>
              <a:t>Cross-Industry Applications</a:t>
            </a:r>
            <a:r>
              <a:rPr lang="en-IN" sz="2000" dirty="0"/>
              <a:t>: </a:t>
            </a:r>
            <a:r>
              <a:rPr lang="en-IN" dirty="0"/>
              <a:t>Customize </a:t>
            </a:r>
            <a:r>
              <a:rPr lang="en-IN" dirty="0" err="1"/>
              <a:t>DataSense</a:t>
            </a:r>
            <a:r>
              <a:rPr lang="en-IN" dirty="0"/>
              <a:t> AI for </a:t>
            </a:r>
            <a:r>
              <a:rPr lang="en-IN" b="1" dirty="0"/>
              <a:t>various industries</a:t>
            </a:r>
            <a:r>
              <a:rPr lang="en-IN" dirty="0"/>
              <a:t> like healthcare, finance, logistics, and retail, enabling domain-specific insights.</a:t>
            </a:r>
          </a:p>
          <a:p>
            <a:pPr lvl="0"/>
            <a:endParaRPr lang="en-IN" dirty="0"/>
          </a:p>
          <a:p>
            <a:pPr lvl="0"/>
            <a:r>
              <a:rPr lang="en-IN" b="1" dirty="0"/>
              <a:t>Enhanced User Experience</a:t>
            </a:r>
            <a:r>
              <a:rPr lang="en-IN" dirty="0"/>
              <a:t>: Build </a:t>
            </a:r>
            <a:r>
              <a:rPr lang="en-IN" b="1" dirty="0"/>
              <a:t>interactive dashboards and visualization tools</a:t>
            </a:r>
            <a:r>
              <a:rPr lang="en-IN" dirty="0"/>
              <a:t> to make insights easily accessible for non-technical users.</a:t>
            </a:r>
          </a:p>
          <a:p>
            <a:pPr lvl="0"/>
            <a:r>
              <a:rPr lang="en-IN" b="1" dirty="0"/>
              <a:t>Automated Recommendations</a:t>
            </a:r>
            <a:r>
              <a:rPr lang="en-IN" dirty="0"/>
              <a:t>: Incorporate AI algorithms to provide </a:t>
            </a:r>
            <a:r>
              <a:rPr lang="en-IN" b="1" dirty="0"/>
              <a:t>actionable suggestions</a:t>
            </a:r>
            <a:r>
              <a:rPr lang="en-IN" dirty="0"/>
              <a:t>, helping organizations make smarter, data-driven decisions.</a:t>
            </a:r>
          </a:p>
          <a:p>
            <a:endParaRPr lang="en-IN" dirty="0"/>
          </a:p>
        </p:txBody>
      </p:sp>
    </p:spTree>
    <p:extLst>
      <p:ext uri="{BB962C8B-B14F-4D97-AF65-F5344CB8AC3E}">
        <p14:creationId xmlns:p14="http://schemas.microsoft.com/office/powerpoint/2010/main" val="2649905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E8E59-6206-EF78-6706-8422883054F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85C65A3-6A3A-7BE6-CC3F-70C6A93679C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BB4338A-AE42-C551-8F7A-BD0ABA087010}"/>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3" name="TextBox 2">
            <a:extLst>
              <a:ext uri="{FF2B5EF4-FFF2-40B4-BE49-F238E27FC236}">
                <a16:creationId xmlns:a16="http://schemas.microsoft.com/office/drawing/2014/main" id="{ACDAB157-B632-8676-BF09-C6501B8E6D66}"/>
              </a:ext>
            </a:extLst>
          </p:cNvPr>
          <p:cNvSpPr txBox="1"/>
          <p:nvPr/>
        </p:nvSpPr>
        <p:spPr>
          <a:xfrm>
            <a:off x="335902" y="980811"/>
            <a:ext cx="11737910" cy="5152308"/>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228600">
              <a:lnSpc>
                <a:spcPct val="115000"/>
              </a:lnSpc>
              <a:spcAft>
                <a:spcPts val="800"/>
              </a:spcAft>
              <a:buNone/>
            </a:pPr>
            <a:r>
              <a:rPr lang="en-IN" sz="3200" b="1" u="sng" kern="10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Times New Roman" panose="02020603050405020304" pitchFamily="18" charset="0"/>
                <a:ea typeface="Calibri" panose="020F0502020204030204" pitchFamily="34" charset="0"/>
                <a:cs typeface="Times New Roman" panose="02020603050405020304" pitchFamily="18" charset="0"/>
              </a:rPr>
              <a:t>Conclusion :</a:t>
            </a:r>
          </a:p>
          <a:p>
            <a:pPr marL="228600">
              <a:lnSpc>
                <a:spcPct val="115000"/>
              </a:lnSpc>
              <a:spcAft>
                <a:spcPts val="800"/>
              </a:spcAft>
              <a:buNone/>
            </a:pPr>
            <a:endParaRPr lang="en-IN" sz="1600" b="1" kern="10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800"/>
              </a:spcAft>
              <a:buNone/>
            </a:pPr>
            <a:r>
              <a:rPr lang="en-IN" sz="2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IN" sz="2000" b="1"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DataSense</a:t>
            </a:r>
            <a:r>
              <a:rPr lang="en-IN" sz="20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AI</a:t>
            </a:r>
            <a:r>
              <a:rPr lang="en-IN" sz="2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project demonstrates the significant potential of artificial intelligence in transforming raw and unstructured data into meaningful insights. By leveraging AI algorithms, the system efficiently </a:t>
            </a:r>
            <a:r>
              <a:rPr lang="en-IN" sz="20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analyzes</a:t>
            </a:r>
            <a:r>
              <a:rPr lang="en-IN" sz="2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large datasets, identifies patterns, and provides predictive and actionable intelligence, which is invaluable for informed decision-making. This project highlights the advantages of automation in data processing, reducing human effort, minimizing errors, and accelerating analysis.</a:t>
            </a:r>
          </a:p>
          <a:p>
            <a:pPr marL="228600">
              <a:lnSpc>
                <a:spcPct val="115000"/>
              </a:lnSpc>
              <a:spcAft>
                <a:spcPts val="800"/>
              </a:spcAft>
              <a:buNone/>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800"/>
              </a:spcAft>
              <a:buNone/>
            </a:pPr>
            <a:r>
              <a:rPr lang="en-IN" sz="2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implementation of </a:t>
            </a:r>
            <a:r>
              <a:rPr lang="en-IN" sz="20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DataSense</a:t>
            </a:r>
            <a:r>
              <a:rPr lang="en-IN" sz="2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AI proves that combining machine learning techniques with advanced data analytics can lead to smarter, faster, and more accurate interpretations of data. Overall, this project not only showcases technical proficiency in AI and data handling but also underlines the practical applicability of AI-driven analytics across industries. The results obtained validate the system’s effectiveness and pave the way for future enhancements, including integration with real-time data streams and expansion to broader datasets.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9921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ECB9-56FA-BD45-1720-A6874893DD7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C995E45-D1CE-82E8-807C-301DE1E9285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9CCD5874-0D1C-755A-1A56-DFF42398506E}"/>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apicciano.commons.gc.cuny.edu/2020/07/02/national-research-cloud-coming-would-spur-artificial-intelligence-development/"/>
              </a:rPr>
              <a:t>This Photo</a:t>
            </a:r>
            <a:r>
              <a:rPr lang="en-IN" sz="900"/>
              <a:t> by Unknown Author is licensed under </a:t>
            </a:r>
            <a:r>
              <a:rPr lang="en-IN" sz="900">
                <a:hlinkClick r:id="rId4" tooltip="https://creativecommons.org/licenses/by-nc-sa/3.0/"/>
              </a:rPr>
              <a:t>CC BY-SA-NC</a:t>
            </a:r>
            <a:endParaRPr lang="en-IN" sz="900"/>
          </a:p>
        </p:txBody>
      </p:sp>
      <p:sp>
        <p:nvSpPr>
          <p:cNvPr id="2" name="Rectangle 1">
            <a:extLst>
              <a:ext uri="{FF2B5EF4-FFF2-40B4-BE49-F238E27FC236}">
                <a16:creationId xmlns:a16="http://schemas.microsoft.com/office/drawing/2014/main" id="{852A14CC-5AC1-59C1-A875-C5E32C6316BA}"/>
              </a:ext>
            </a:extLst>
          </p:cNvPr>
          <p:cNvSpPr/>
          <p:nvPr/>
        </p:nvSpPr>
        <p:spPr>
          <a:xfrm>
            <a:off x="1238851" y="2799384"/>
            <a:ext cx="9444700" cy="1446550"/>
          </a:xfrm>
          <a:prstGeom prst="rect">
            <a:avLst/>
          </a:prstGeom>
          <a:noFill/>
        </p:spPr>
        <p:txBody>
          <a:bodyPr wrap="square" lIns="91440" tIns="45720" rIns="91440" bIns="45720">
            <a:spAutoFit/>
          </a:bodyPr>
          <a:lstStyle/>
          <a:p>
            <a:pPr algn="ctr"/>
            <a:r>
              <a:rPr lang="en-US" sz="8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THANK YOU</a:t>
            </a:r>
          </a:p>
        </p:txBody>
      </p:sp>
    </p:spTree>
    <p:extLst>
      <p:ext uri="{BB962C8B-B14F-4D97-AF65-F5344CB8AC3E}">
        <p14:creationId xmlns:p14="http://schemas.microsoft.com/office/powerpoint/2010/main" val="3377738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975</Words>
  <Application>Microsoft Office PowerPoint</Application>
  <PresentationFormat>Widescreen</PresentationFormat>
  <Paragraphs>101</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Algerian</vt:lpstr>
      <vt:lpstr>Arial</vt:lpstr>
      <vt:lpstr>Arial Black</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Tandrima Nandy</dc:creator>
  <cp:lastModifiedBy>Tandrima Nandy</cp:lastModifiedBy>
  <cp:revision>31</cp:revision>
  <dcterms:created xsi:type="dcterms:W3CDTF">2025-12-18T13:42:35Z</dcterms:created>
  <dcterms:modified xsi:type="dcterms:W3CDTF">2026-06-08T16:49:19Z</dcterms:modified>
</cp:coreProperties>
</file>